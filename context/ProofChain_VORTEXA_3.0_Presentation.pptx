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Consolas" panose="020B0609020204030204" pitchFamily="49" charset="0"/>
      <p:regular r:id="rId11"/>
      <p:bold r:id="rId12"/>
      <p:italic r:id="rId13"/>
      <p:boldItalic r:id="rId14"/>
    </p:embeddedFont>
    <p:embeddedFont>
      <p:font typeface="Heading Now 31-38" panose="020B0604020202020204" charset="0"/>
      <p:regular r:id="rId15"/>
    </p:embeddedFont>
    <p:embeddedFont>
      <p:font typeface="Heading Now 31-38 Bold"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0" d="100"/>
          <a:sy n="60" d="100"/>
        </p:scale>
        <p:origin x="37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02269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ProofChain, problem B-01 in Domain 3: Blockchain and Decentralized Trust. Team CrimeBranch-Elites.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Storing a hash beside the record does not help: an insider edits both and they still match. A verifier needs three things: a reference the custodian cannot quietly rewrite, a way to check a single record, and the reason for any failure. Verification proves a document matches a registered reference; it does not prove who created it or that its contents are true.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Flow A is the custodian's side: upload, fingerprint with a random salt, human confirmation of AI-suggested metadata, sealing a batch into a salted Merkle tree, publishing the root to the signed ledger, and issuing a proof bundle. Flow B is the verifier's side and needs no account: five checks, each with a named failure code.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Four parts with deliberate boundaries. The registry is what is being checked, so the verifier never reads its database. The ledger is a separate process with its own Ed25519 key and only supports append and read. The verifier needs only the document, the proof and the published ledger, and exists twice: a Python CLI and a static WebCrypto page. The AI helper is advisory.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Feasible because it is already built and tested, and viable because it needs no blockchain infrastructure. The risk table is honest: the first-time verifier gap is a real limit, and witness co-signing is the next step, not something already built.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groups benefit. Custodians get tamper evidence and a self-audit. Holders carry a document and a small proof that leaks nothing about other records. Verifiers need no account and are told the reason for any failure. A proof for one record in a batch of a thousand is about ten hashes, because a Merkle path grows with the logarithm of the batch size.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hash in the same database fails the brief outright. Blockchain anchoring detects rewrites but brings fees and infrastructure the brief does not require. ProofChain keeps the detection and drops the infrastructure, and adds named failure reasons, salted leaves for privacy, and a second independent verifier. The blockchain column describes typical designs, not every system.</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png"/><Relationship Id="rId7" Type="http://schemas.openxmlformats.org/officeDocument/2006/relationships/image" Target="../media/image11.png"/><Relationship Id="rId12"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2.png"/><Relationship Id="rId5" Type="http://schemas.openxmlformats.org/officeDocument/2006/relationships/image" Target="../media/image5.png"/><Relationship Id="rId10"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png"/><Relationship Id="rId7" Type="http://schemas.openxmlformats.org/officeDocument/2006/relationships/image" Target="../media/image11.png"/><Relationship Id="rId12"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2.png"/><Relationship Id="rId5" Type="http://schemas.openxmlformats.org/officeDocument/2006/relationships/image" Target="../media/image5.png"/><Relationship Id="rId10"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png"/><Relationship Id="rId7" Type="http://schemas.openxmlformats.org/officeDocument/2006/relationships/image" Target="../media/image11.png"/><Relationship Id="rId12"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9.png"/><Relationship Id="rId5" Type="http://schemas.openxmlformats.org/officeDocument/2006/relationships/image" Target="../media/image5.png"/><Relationship Id="rId10"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png"/><Relationship Id="rId7" Type="http://schemas.openxmlformats.org/officeDocument/2006/relationships/image" Target="../media/image6.png"/><Relationship Id="rId12"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9.png"/><Relationship Id="rId5" Type="http://schemas.openxmlformats.org/officeDocument/2006/relationships/image" Target="../media/image11.png"/><Relationship Id="rId10"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png"/><Relationship Id="rId7" Type="http://schemas.openxmlformats.org/officeDocument/2006/relationships/image" Target="../media/image11.png"/><Relationship Id="rId12"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9.png"/><Relationship Id="rId5" Type="http://schemas.openxmlformats.org/officeDocument/2006/relationships/image" Target="../media/image5.png"/><Relationship Id="rId10"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png"/><Relationship Id="rId7" Type="http://schemas.openxmlformats.org/officeDocument/2006/relationships/image" Target="../media/image11.png"/><Relationship Id="rId12"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9.png"/><Relationship Id="rId5" Type="http://schemas.openxmlformats.org/officeDocument/2006/relationships/image" Target="../media/image5.png"/><Relationship Id="rId10"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8EB"/>
        </a:solidFill>
        <a:effectLst/>
      </p:bgPr>
    </p:bg>
    <p:spTree>
      <p:nvGrpSpPr>
        <p:cNvPr id="1" name=""/>
        <p:cNvGrpSpPr/>
        <p:nvPr/>
      </p:nvGrpSpPr>
      <p:grpSpPr>
        <a:xfrm>
          <a:off x="0" y="0"/>
          <a:ext cx="0" cy="0"/>
          <a:chOff x="0" y="0"/>
          <a:chExt cx="0" cy="0"/>
        </a:xfrm>
      </p:grpSpPr>
      <p:sp>
        <p:nvSpPr>
          <p:cNvPr id="2" name="Freeform 2"/>
          <p:cNvSpPr/>
          <p:nvPr/>
        </p:nvSpPr>
        <p:spPr>
          <a:xfrm>
            <a:off x="15416893" y="4930326"/>
            <a:ext cx="1790743" cy="1009954"/>
          </a:xfrm>
          <a:custGeom>
            <a:avLst/>
            <a:gdLst/>
            <a:ahLst/>
            <a:cxnLst/>
            <a:rect l="l" t="t" r="r" b="b"/>
            <a:pathLst>
              <a:path w="1790743" h="1009954">
                <a:moveTo>
                  <a:pt x="0" y="0"/>
                </a:moveTo>
                <a:lnTo>
                  <a:pt x="1790744" y="0"/>
                </a:lnTo>
                <a:lnTo>
                  <a:pt x="1790744" y="1009954"/>
                </a:lnTo>
                <a:lnTo>
                  <a:pt x="0" y="1009954"/>
                </a:lnTo>
                <a:lnTo>
                  <a:pt x="0" y="0"/>
                </a:lnTo>
                <a:close/>
              </a:path>
            </a:pathLst>
          </a:custGeom>
          <a:blipFill>
            <a:blip r:embed="rId3">
              <a:alphaModFix amt="59000"/>
            </a:blip>
            <a:stretch>
              <a:fillRect/>
            </a:stretch>
          </a:blipFill>
        </p:spPr>
        <p:txBody>
          <a:bodyPr/>
          <a:lstStyle/>
          <a:p>
            <a:endParaRPr/>
          </a:p>
        </p:txBody>
      </p:sp>
      <p:sp>
        <p:nvSpPr>
          <p:cNvPr id="3" name="TextBox 3"/>
          <p:cNvSpPr txBox="1"/>
          <p:nvPr/>
        </p:nvSpPr>
        <p:spPr>
          <a:xfrm>
            <a:off x="736677" y="6563781"/>
            <a:ext cx="2260718" cy="743463"/>
          </a:xfrm>
          <a:prstGeom prst="rect">
            <a:avLst/>
          </a:prstGeom>
        </p:spPr>
        <p:txBody>
          <a:bodyPr lIns="0" tIns="0" rIns="0" bIns="0" rtlCol="0" anchor="t">
            <a:spAutoFit/>
          </a:bodyPr>
          <a:lstStyle/>
          <a:p>
            <a:pPr algn="l">
              <a:lnSpc>
                <a:spcPts val="4771"/>
              </a:lnSpc>
            </a:pPr>
            <a:r>
              <a:rPr lang="en-US" sz="4771" b="1" spc="46">
                <a:solidFill>
                  <a:srgbClr val="4E4A76"/>
                </a:solidFill>
                <a:latin typeface="Heading Now 31-38 Bold"/>
                <a:ea typeface="Heading Now 31-38 Bold"/>
                <a:cs typeface="Heading Now 31-38 Bold"/>
                <a:sym typeface="Heading Now 31-38 Bold"/>
              </a:rPr>
              <a:t>TEAM NAME :</a:t>
            </a:r>
          </a:p>
        </p:txBody>
      </p:sp>
      <p:sp>
        <p:nvSpPr>
          <p:cNvPr id="4" name="TextBox 4"/>
          <p:cNvSpPr txBox="1"/>
          <p:nvPr/>
        </p:nvSpPr>
        <p:spPr>
          <a:xfrm>
            <a:off x="736677" y="4655619"/>
            <a:ext cx="5932460" cy="807047"/>
          </a:xfrm>
          <a:prstGeom prst="rect">
            <a:avLst/>
          </a:prstGeom>
        </p:spPr>
        <p:txBody>
          <a:bodyPr lIns="0" tIns="0" rIns="0" bIns="0" rtlCol="0" anchor="t">
            <a:spAutoFit/>
          </a:bodyPr>
          <a:lstStyle/>
          <a:p>
            <a:pPr algn="l">
              <a:lnSpc>
                <a:spcPts val="5148"/>
              </a:lnSpc>
            </a:pPr>
            <a:r>
              <a:rPr lang="en-US" sz="5148" b="1" spc="50">
                <a:solidFill>
                  <a:srgbClr val="1A2651"/>
                </a:solidFill>
                <a:latin typeface="Heading Now 31-38 Bold"/>
                <a:ea typeface="Heading Now 31-38 Bold"/>
                <a:cs typeface="Heading Now 31-38 Bold"/>
                <a:sym typeface="Heading Now 31-38 Bold"/>
              </a:rPr>
              <a:t>PROBLEM STATEMENT TITLE : </a:t>
            </a:r>
          </a:p>
        </p:txBody>
      </p:sp>
      <p:sp>
        <p:nvSpPr>
          <p:cNvPr id="5" name="TextBox 5"/>
          <p:cNvSpPr txBox="1"/>
          <p:nvPr/>
        </p:nvSpPr>
        <p:spPr>
          <a:xfrm>
            <a:off x="736677" y="3700840"/>
            <a:ext cx="6250076" cy="807047"/>
          </a:xfrm>
          <a:prstGeom prst="rect">
            <a:avLst/>
          </a:prstGeom>
        </p:spPr>
        <p:txBody>
          <a:bodyPr lIns="0" tIns="0" rIns="0" bIns="0" rtlCol="0" anchor="t">
            <a:spAutoFit/>
          </a:bodyPr>
          <a:lstStyle/>
          <a:p>
            <a:pPr algn="l">
              <a:lnSpc>
                <a:spcPts val="5148"/>
              </a:lnSpc>
            </a:pPr>
            <a:r>
              <a:rPr lang="en-US" sz="5148" b="1" spc="50">
                <a:solidFill>
                  <a:srgbClr val="4E4A76"/>
                </a:solidFill>
                <a:latin typeface="Heading Now 31-38 Bold"/>
                <a:ea typeface="Heading Now 31-38 Bold"/>
                <a:cs typeface="Heading Now 31-38 Bold"/>
                <a:sym typeface="Heading Now 31-38 Bold"/>
              </a:rPr>
              <a:t>DOMAIN &amp; NO :</a:t>
            </a:r>
            <a:r>
              <a:rPr lang="en-US" sz="5148" b="1" spc="50">
                <a:solidFill>
                  <a:srgbClr val="161F3E"/>
                </a:solidFill>
                <a:latin typeface="Heading Now 31-38 Bold"/>
                <a:ea typeface="Heading Now 31-38 Bold"/>
                <a:cs typeface="Heading Now 31-38 Bold"/>
                <a:sym typeface="Heading Now 31-38 Bold"/>
              </a:rPr>
              <a:t>  </a:t>
            </a:r>
            <a:r>
              <a:rPr lang="en-US" sz="5148" spc="50">
                <a:solidFill>
                  <a:srgbClr val="161F3E"/>
                </a:solidFill>
                <a:latin typeface="Heading Now 31-38"/>
                <a:ea typeface="Heading Now 31-38"/>
                <a:cs typeface="Heading Now 31-38"/>
                <a:sym typeface="Heading Now 31-38"/>
              </a:rPr>
              <a:t>3, B-01</a:t>
            </a:r>
          </a:p>
        </p:txBody>
      </p:sp>
      <p:sp>
        <p:nvSpPr>
          <p:cNvPr id="6" name="TextBox 6"/>
          <p:cNvSpPr txBox="1"/>
          <p:nvPr/>
        </p:nvSpPr>
        <p:spPr>
          <a:xfrm>
            <a:off x="736677" y="7525335"/>
            <a:ext cx="2119254" cy="707658"/>
          </a:xfrm>
          <a:prstGeom prst="rect">
            <a:avLst/>
          </a:prstGeom>
        </p:spPr>
        <p:txBody>
          <a:bodyPr lIns="0" tIns="0" rIns="0" bIns="0" rtlCol="0" anchor="t">
            <a:spAutoFit/>
          </a:bodyPr>
          <a:lstStyle/>
          <a:p>
            <a:pPr algn="l">
              <a:lnSpc>
                <a:spcPts val="4472"/>
              </a:lnSpc>
            </a:pPr>
            <a:r>
              <a:rPr lang="en-US" sz="4472" b="1" spc="43">
                <a:solidFill>
                  <a:srgbClr val="4E4A76"/>
                </a:solidFill>
                <a:latin typeface="Heading Now 31-38 Bold"/>
                <a:ea typeface="Heading Now 31-38 Bold"/>
                <a:cs typeface="Heading Now 31-38 Bold"/>
                <a:sym typeface="Heading Now 31-38 Bold"/>
              </a:rPr>
              <a:t>TEAM ID :</a:t>
            </a:r>
          </a:p>
        </p:txBody>
      </p:sp>
      <p:sp>
        <p:nvSpPr>
          <p:cNvPr id="7" name="Freeform 7"/>
          <p:cNvSpPr/>
          <p:nvPr/>
        </p:nvSpPr>
        <p:spPr>
          <a:xfrm>
            <a:off x="16127273" y="239946"/>
            <a:ext cx="2160727" cy="2160727"/>
          </a:xfrm>
          <a:custGeom>
            <a:avLst/>
            <a:gdLst/>
            <a:ahLst/>
            <a:cxnLst/>
            <a:rect l="l" t="t" r="r" b="b"/>
            <a:pathLst>
              <a:path w="2160727" h="2160727">
                <a:moveTo>
                  <a:pt x="0" y="0"/>
                </a:moveTo>
                <a:lnTo>
                  <a:pt x="2160727" y="0"/>
                </a:lnTo>
                <a:lnTo>
                  <a:pt x="2160727" y="2160727"/>
                </a:lnTo>
                <a:lnTo>
                  <a:pt x="0" y="2160727"/>
                </a:lnTo>
                <a:lnTo>
                  <a:pt x="0" y="0"/>
                </a:lnTo>
                <a:close/>
              </a:path>
            </a:pathLst>
          </a:custGeom>
          <a:blipFill>
            <a:blip r:embed="rId4"/>
            <a:stretch>
              <a:fillRect/>
            </a:stretch>
          </a:blipFill>
        </p:spPr>
        <p:txBody>
          <a:bodyPr/>
          <a:lstStyle/>
          <a:p>
            <a:endParaRPr/>
          </a:p>
        </p:txBody>
      </p:sp>
      <p:sp>
        <p:nvSpPr>
          <p:cNvPr id="8" name="TextBox 8"/>
          <p:cNvSpPr txBox="1"/>
          <p:nvPr/>
        </p:nvSpPr>
        <p:spPr>
          <a:xfrm>
            <a:off x="594418" y="366545"/>
            <a:ext cx="4010276" cy="2096428"/>
          </a:xfrm>
          <a:prstGeom prst="rect">
            <a:avLst/>
          </a:prstGeom>
        </p:spPr>
        <p:txBody>
          <a:bodyPr lIns="0" tIns="0" rIns="0" bIns="0" rtlCol="0" anchor="t">
            <a:spAutoFit/>
          </a:bodyPr>
          <a:lstStyle/>
          <a:p>
            <a:pPr algn="l">
              <a:lnSpc>
                <a:spcPts val="13306"/>
              </a:lnSpc>
            </a:pPr>
            <a:r>
              <a:rPr lang="en-US" sz="13306" b="1" spc="129">
                <a:solidFill>
                  <a:srgbClr val="3C3B56">
                    <a:alpha val="84706"/>
                  </a:srgbClr>
                </a:solidFill>
                <a:latin typeface="Heading Now 31-38 Bold"/>
                <a:ea typeface="Heading Now 31-38 Bold"/>
                <a:cs typeface="Heading Now 31-38 Bold"/>
                <a:sym typeface="Heading Now 31-38 Bold"/>
              </a:rPr>
              <a:t>VORTEXA</a:t>
            </a:r>
          </a:p>
        </p:txBody>
      </p:sp>
      <p:sp>
        <p:nvSpPr>
          <p:cNvPr id="9" name="TextBox 9"/>
          <p:cNvSpPr txBox="1"/>
          <p:nvPr/>
        </p:nvSpPr>
        <p:spPr>
          <a:xfrm>
            <a:off x="4686268" y="366545"/>
            <a:ext cx="1413653" cy="2096428"/>
          </a:xfrm>
          <a:prstGeom prst="rect">
            <a:avLst/>
          </a:prstGeom>
        </p:spPr>
        <p:txBody>
          <a:bodyPr lIns="0" tIns="0" rIns="0" bIns="0" rtlCol="0" anchor="t">
            <a:spAutoFit/>
          </a:bodyPr>
          <a:lstStyle/>
          <a:p>
            <a:pPr algn="l">
              <a:lnSpc>
                <a:spcPts val="13306"/>
              </a:lnSpc>
            </a:pPr>
            <a:r>
              <a:rPr lang="en-US" sz="13306" b="1" spc="129">
                <a:solidFill>
                  <a:srgbClr val="7F5E87"/>
                </a:solidFill>
                <a:latin typeface="Heading Now 31-38 Bold"/>
                <a:ea typeface="Heading Now 31-38 Bold"/>
                <a:cs typeface="Heading Now 31-38 Bold"/>
                <a:sym typeface="Heading Now 31-38 Bold"/>
              </a:rPr>
              <a:t>3.0</a:t>
            </a:r>
          </a:p>
        </p:txBody>
      </p:sp>
      <p:sp>
        <p:nvSpPr>
          <p:cNvPr id="10" name="Freeform 10"/>
          <p:cNvSpPr/>
          <p:nvPr/>
        </p:nvSpPr>
        <p:spPr>
          <a:xfrm>
            <a:off x="427876" y="2201546"/>
            <a:ext cx="5496285" cy="239623"/>
          </a:xfrm>
          <a:custGeom>
            <a:avLst/>
            <a:gdLst/>
            <a:ahLst/>
            <a:cxnLst/>
            <a:rect l="l" t="t" r="r" b="b"/>
            <a:pathLst>
              <a:path w="5496285" h="239623">
                <a:moveTo>
                  <a:pt x="0" y="0"/>
                </a:moveTo>
                <a:lnTo>
                  <a:pt x="5496285" y="0"/>
                </a:lnTo>
                <a:lnTo>
                  <a:pt x="5496285" y="239623"/>
                </a:lnTo>
                <a:lnTo>
                  <a:pt x="0" y="239623"/>
                </a:lnTo>
                <a:lnTo>
                  <a:pt x="0" y="0"/>
                </a:lnTo>
                <a:close/>
              </a:path>
            </a:pathLst>
          </a:custGeom>
          <a:blipFill>
            <a:blip r:embed="rId5"/>
            <a:stretch>
              <a:fillRect/>
            </a:stretch>
          </a:blipFill>
        </p:spPr>
        <p:txBody>
          <a:bodyPr/>
          <a:lstStyle/>
          <a:p>
            <a:endParaRPr/>
          </a:p>
        </p:txBody>
      </p:sp>
      <p:sp>
        <p:nvSpPr>
          <p:cNvPr id="11" name="TextBox 11"/>
          <p:cNvSpPr txBox="1"/>
          <p:nvPr/>
        </p:nvSpPr>
        <p:spPr>
          <a:xfrm>
            <a:off x="6181496" y="1747988"/>
            <a:ext cx="2453149" cy="573369"/>
          </a:xfrm>
          <a:prstGeom prst="rect">
            <a:avLst/>
          </a:prstGeom>
        </p:spPr>
        <p:txBody>
          <a:bodyPr lIns="0" tIns="0" rIns="0" bIns="0" rtlCol="0" anchor="t">
            <a:spAutoFit/>
          </a:bodyPr>
          <a:lstStyle/>
          <a:p>
            <a:pPr algn="l">
              <a:lnSpc>
                <a:spcPts val="3608"/>
              </a:lnSpc>
            </a:pPr>
            <a:r>
              <a:rPr lang="en-US" sz="3608" b="1" spc="89">
                <a:solidFill>
                  <a:srgbClr val="3F3F3F"/>
                </a:solidFill>
                <a:latin typeface="Heading Now 31-38 Bold"/>
                <a:ea typeface="Heading Now 31-38 Bold"/>
                <a:cs typeface="Heading Now 31-38 Bold"/>
                <a:sym typeface="Heading Now 31-38 Bold"/>
              </a:rPr>
              <a:t>12 HRS HACKATHON</a:t>
            </a:r>
          </a:p>
        </p:txBody>
      </p:sp>
      <p:sp>
        <p:nvSpPr>
          <p:cNvPr id="12" name="TextBox 12"/>
          <p:cNvSpPr txBox="1"/>
          <p:nvPr/>
        </p:nvSpPr>
        <p:spPr>
          <a:xfrm>
            <a:off x="736677" y="2531879"/>
            <a:ext cx="2119254" cy="431089"/>
          </a:xfrm>
          <a:prstGeom prst="rect">
            <a:avLst/>
          </a:prstGeom>
        </p:spPr>
        <p:txBody>
          <a:bodyPr lIns="0" tIns="0" rIns="0" bIns="0" rtlCol="0" anchor="t">
            <a:spAutoFit/>
          </a:bodyPr>
          <a:lstStyle/>
          <a:p>
            <a:pPr algn="l">
              <a:lnSpc>
                <a:spcPts val="2721"/>
              </a:lnSpc>
            </a:pPr>
            <a:r>
              <a:rPr lang="en-US" sz="2721" b="1" spc="67">
                <a:solidFill>
                  <a:srgbClr val="161F3E"/>
                </a:solidFill>
                <a:latin typeface="Heading Now 31-38 Bold"/>
                <a:ea typeface="Heading Now 31-38 Bold"/>
                <a:cs typeface="Heading Now 31-38 Bold"/>
                <a:sym typeface="Heading Now 31-38 Bold"/>
              </a:rPr>
              <a:t>POWERED BY </a:t>
            </a:r>
            <a:r>
              <a:rPr lang="en-US" sz="2721" b="1" spc="67">
                <a:solidFill>
                  <a:srgbClr val="4E4A76"/>
                </a:solidFill>
                <a:latin typeface="Heading Now 31-38 Bold"/>
                <a:ea typeface="Heading Now 31-38 Bold"/>
                <a:cs typeface="Heading Now 31-38 Bold"/>
                <a:sym typeface="Heading Now 31-38 Bold"/>
              </a:rPr>
              <a:t>A.I.R.S</a:t>
            </a:r>
          </a:p>
        </p:txBody>
      </p:sp>
      <p:sp>
        <p:nvSpPr>
          <p:cNvPr id="13" name="Freeform 13"/>
          <p:cNvSpPr/>
          <p:nvPr/>
        </p:nvSpPr>
        <p:spPr>
          <a:xfrm>
            <a:off x="0" y="-303755"/>
            <a:ext cx="1750048" cy="10607152"/>
          </a:xfrm>
          <a:custGeom>
            <a:avLst/>
            <a:gdLst/>
            <a:ahLst/>
            <a:cxnLst/>
            <a:rect l="l" t="t" r="r" b="b"/>
            <a:pathLst>
              <a:path w="1750048" h="10607152">
                <a:moveTo>
                  <a:pt x="0" y="0"/>
                </a:moveTo>
                <a:lnTo>
                  <a:pt x="1750048" y="0"/>
                </a:lnTo>
                <a:lnTo>
                  <a:pt x="1750048" y="10607153"/>
                </a:lnTo>
                <a:lnTo>
                  <a:pt x="0" y="10607153"/>
                </a:lnTo>
                <a:lnTo>
                  <a:pt x="0" y="0"/>
                </a:lnTo>
                <a:close/>
              </a:path>
            </a:pathLst>
          </a:custGeom>
          <a:blipFill>
            <a:blip r:embed="rId6"/>
            <a:stretch>
              <a:fillRect l="-3785" r="-3785"/>
            </a:stretch>
          </a:blipFill>
        </p:spPr>
        <p:txBody>
          <a:bodyPr/>
          <a:lstStyle/>
          <a:p>
            <a:endParaRPr/>
          </a:p>
        </p:txBody>
      </p:sp>
      <p:sp>
        <p:nvSpPr>
          <p:cNvPr id="14" name="Freeform 14"/>
          <p:cNvSpPr/>
          <p:nvPr/>
        </p:nvSpPr>
        <p:spPr>
          <a:xfrm>
            <a:off x="14361330" y="6635716"/>
            <a:ext cx="1750048" cy="1727254"/>
          </a:xfrm>
          <a:custGeom>
            <a:avLst/>
            <a:gdLst/>
            <a:ahLst/>
            <a:cxnLst/>
            <a:rect l="l" t="t" r="r" b="b"/>
            <a:pathLst>
              <a:path w="1750048" h="1727254">
                <a:moveTo>
                  <a:pt x="0" y="0"/>
                </a:moveTo>
                <a:lnTo>
                  <a:pt x="1750048" y="0"/>
                </a:lnTo>
                <a:lnTo>
                  <a:pt x="1750048" y="1727254"/>
                </a:lnTo>
                <a:lnTo>
                  <a:pt x="0" y="1727254"/>
                </a:lnTo>
                <a:lnTo>
                  <a:pt x="0" y="0"/>
                </a:lnTo>
                <a:close/>
              </a:path>
            </a:pathLst>
          </a:custGeom>
          <a:blipFill>
            <a:blip r:embed="rId7"/>
            <a:stretch>
              <a:fillRect/>
            </a:stretch>
          </a:blipFill>
        </p:spPr>
        <p:txBody>
          <a:bodyPr/>
          <a:lstStyle/>
          <a:p>
            <a:endParaRPr/>
          </a:p>
        </p:txBody>
      </p:sp>
      <p:sp>
        <p:nvSpPr>
          <p:cNvPr id="15" name="Freeform 15"/>
          <p:cNvSpPr/>
          <p:nvPr/>
        </p:nvSpPr>
        <p:spPr>
          <a:xfrm>
            <a:off x="12739803" y="7046873"/>
            <a:ext cx="5548197" cy="3256525"/>
          </a:xfrm>
          <a:custGeom>
            <a:avLst/>
            <a:gdLst/>
            <a:ahLst/>
            <a:cxnLst/>
            <a:rect l="l" t="t" r="r" b="b"/>
            <a:pathLst>
              <a:path w="5548197" h="3256525">
                <a:moveTo>
                  <a:pt x="0" y="0"/>
                </a:moveTo>
                <a:lnTo>
                  <a:pt x="5548197" y="0"/>
                </a:lnTo>
                <a:lnTo>
                  <a:pt x="5548197" y="3256525"/>
                </a:lnTo>
                <a:lnTo>
                  <a:pt x="0" y="3256525"/>
                </a:lnTo>
                <a:lnTo>
                  <a:pt x="0" y="0"/>
                </a:lnTo>
                <a:close/>
              </a:path>
            </a:pathLst>
          </a:custGeom>
          <a:blipFill>
            <a:blip r:embed="rId8"/>
            <a:stretch>
              <a:fillRect t="-9154" b="-3059"/>
            </a:stretch>
          </a:blipFill>
        </p:spPr>
        <p:txBody>
          <a:bodyPr/>
          <a:lstStyle/>
          <a:p>
            <a:endParaRPr/>
          </a:p>
        </p:txBody>
      </p:sp>
      <p:sp>
        <p:nvSpPr>
          <p:cNvPr id="16" name="Freeform 16"/>
          <p:cNvSpPr/>
          <p:nvPr/>
        </p:nvSpPr>
        <p:spPr>
          <a:xfrm>
            <a:off x="16975464" y="5455062"/>
            <a:ext cx="1312536" cy="4088563"/>
          </a:xfrm>
          <a:custGeom>
            <a:avLst/>
            <a:gdLst/>
            <a:ahLst/>
            <a:cxnLst/>
            <a:rect l="l" t="t" r="r" b="b"/>
            <a:pathLst>
              <a:path w="1312536" h="4088563">
                <a:moveTo>
                  <a:pt x="0" y="0"/>
                </a:moveTo>
                <a:lnTo>
                  <a:pt x="1312536" y="0"/>
                </a:lnTo>
                <a:lnTo>
                  <a:pt x="1312536" y="4088563"/>
                </a:lnTo>
                <a:lnTo>
                  <a:pt x="0" y="4088563"/>
                </a:lnTo>
                <a:lnTo>
                  <a:pt x="0" y="0"/>
                </a:lnTo>
                <a:close/>
              </a:path>
            </a:pathLst>
          </a:custGeom>
          <a:blipFill>
            <a:blip r:embed="rId9"/>
            <a:stretch>
              <a:fillRect/>
            </a:stretch>
          </a:blipFill>
        </p:spPr>
        <p:txBody>
          <a:bodyPr/>
          <a:lstStyle/>
          <a:p>
            <a:endParaRPr/>
          </a:p>
        </p:txBody>
      </p:sp>
      <p:sp>
        <p:nvSpPr>
          <p:cNvPr id="17" name="Freeform 17"/>
          <p:cNvSpPr/>
          <p:nvPr/>
        </p:nvSpPr>
        <p:spPr>
          <a:xfrm>
            <a:off x="16706941" y="7046873"/>
            <a:ext cx="1104718" cy="2372241"/>
          </a:xfrm>
          <a:custGeom>
            <a:avLst/>
            <a:gdLst/>
            <a:ahLst/>
            <a:cxnLst/>
            <a:rect l="l" t="t" r="r" b="b"/>
            <a:pathLst>
              <a:path w="1104718" h="2372241">
                <a:moveTo>
                  <a:pt x="0" y="0"/>
                </a:moveTo>
                <a:lnTo>
                  <a:pt x="1104718" y="0"/>
                </a:lnTo>
                <a:lnTo>
                  <a:pt x="1104718" y="2372241"/>
                </a:lnTo>
                <a:lnTo>
                  <a:pt x="0" y="2372241"/>
                </a:lnTo>
                <a:lnTo>
                  <a:pt x="0" y="0"/>
                </a:lnTo>
                <a:close/>
              </a:path>
            </a:pathLst>
          </a:custGeom>
          <a:blipFill>
            <a:blip r:embed="rId10"/>
            <a:stretch>
              <a:fillRect/>
            </a:stretch>
          </a:blipFill>
        </p:spPr>
        <p:txBody>
          <a:bodyPr/>
          <a:lstStyle/>
          <a:p>
            <a:endParaRPr/>
          </a:p>
        </p:txBody>
      </p:sp>
      <p:sp>
        <p:nvSpPr>
          <p:cNvPr id="18" name="Freeform 18"/>
          <p:cNvSpPr/>
          <p:nvPr/>
        </p:nvSpPr>
        <p:spPr>
          <a:xfrm>
            <a:off x="14727951" y="2550929"/>
            <a:ext cx="3560049" cy="1756785"/>
          </a:xfrm>
          <a:custGeom>
            <a:avLst/>
            <a:gdLst/>
            <a:ahLst/>
            <a:cxnLst/>
            <a:rect l="l" t="t" r="r" b="b"/>
            <a:pathLst>
              <a:path w="3560049" h="1756785">
                <a:moveTo>
                  <a:pt x="0" y="0"/>
                </a:moveTo>
                <a:lnTo>
                  <a:pt x="3560049" y="0"/>
                </a:lnTo>
                <a:lnTo>
                  <a:pt x="3560049" y="1756784"/>
                </a:lnTo>
                <a:lnTo>
                  <a:pt x="0" y="1756784"/>
                </a:lnTo>
                <a:lnTo>
                  <a:pt x="0" y="0"/>
                </a:lnTo>
                <a:close/>
              </a:path>
            </a:pathLst>
          </a:custGeom>
          <a:blipFill>
            <a:blip r:embed="rId11">
              <a:alphaModFix amt="57000"/>
            </a:blip>
            <a:stretch>
              <a:fillRect/>
            </a:stretch>
          </a:blipFill>
        </p:spPr>
        <p:txBody>
          <a:bodyPr/>
          <a:lstStyle/>
          <a:p>
            <a:endParaRPr/>
          </a:p>
        </p:txBody>
      </p:sp>
      <p:sp>
        <p:nvSpPr>
          <p:cNvPr id="19" name="TextBox 18"/>
          <p:cNvSpPr txBox="1"/>
          <p:nvPr/>
        </p:nvSpPr>
        <p:spPr>
          <a:xfrm>
            <a:off x="740664" y="5440680"/>
            <a:ext cx="12070080" cy="822960"/>
          </a:xfrm>
          <a:prstGeom prst="rect">
            <a:avLst/>
          </a:prstGeom>
          <a:noFill/>
        </p:spPr>
        <p:txBody>
          <a:bodyPr wrap="square" lIns="0" tIns="0" rIns="0" bIns="0" anchor="t">
            <a:spAutoFit/>
          </a:bodyPr>
          <a:lstStyle/>
          <a:p>
            <a:pPr algn="l">
              <a:spcAft>
                <a:spcPts val="0"/>
              </a:spcAft>
            </a:pPr>
            <a:r>
              <a:rPr sz="4800" b="0" i="0">
                <a:solidFill>
                  <a:srgbClr val="161F3E"/>
                </a:solidFill>
                <a:latin typeface="Heading Now 31-38"/>
              </a:rPr>
              <a:t>ProofChain: Verifiable Records &amp; Tamper Detection</a:t>
            </a:r>
          </a:p>
        </p:txBody>
      </p:sp>
      <p:sp>
        <p:nvSpPr>
          <p:cNvPr id="20" name="TextBox 19"/>
          <p:cNvSpPr txBox="1"/>
          <p:nvPr/>
        </p:nvSpPr>
        <p:spPr>
          <a:xfrm>
            <a:off x="3154680" y="6464808"/>
            <a:ext cx="8229600" cy="740664"/>
          </a:xfrm>
          <a:prstGeom prst="rect">
            <a:avLst/>
          </a:prstGeom>
          <a:noFill/>
        </p:spPr>
        <p:txBody>
          <a:bodyPr wrap="square" lIns="0" tIns="0" rIns="0" bIns="0" anchor="t">
            <a:spAutoFit/>
          </a:bodyPr>
          <a:lstStyle/>
          <a:p>
            <a:pPr algn="l">
              <a:spcAft>
                <a:spcPts val="0"/>
              </a:spcAft>
            </a:pPr>
            <a:r>
              <a:rPr sz="4770" b="0" i="0">
                <a:solidFill>
                  <a:srgbClr val="161F3E"/>
                </a:solidFill>
                <a:latin typeface="Heading Now 31-38"/>
              </a:rPr>
              <a:t>CrimeBranch-Elites</a:t>
            </a:r>
          </a:p>
        </p:txBody>
      </p:sp>
      <p:sp>
        <p:nvSpPr>
          <p:cNvPr id="21" name="TextBox 20"/>
          <p:cNvSpPr txBox="1"/>
          <p:nvPr/>
        </p:nvSpPr>
        <p:spPr>
          <a:xfrm>
            <a:off x="2423160" y="7424927"/>
            <a:ext cx="8229600" cy="704088"/>
          </a:xfrm>
          <a:prstGeom prst="rect">
            <a:avLst/>
          </a:prstGeom>
          <a:noFill/>
        </p:spPr>
        <p:txBody>
          <a:bodyPr wrap="square" lIns="0" tIns="0" rIns="0" bIns="0" anchor="t">
            <a:spAutoFit/>
          </a:bodyPr>
          <a:lstStyle/>
          <a:p>
            <a:pPr algn="l">
              <a:spcAft>
                <a:spcPts val="0"/>
              </a:spcAft>
            </a:pPr>
            <a:r>
              <a:rPr sz="4470" b="0" i="0">
                <a:solidFill>
                  <a:srgbClr val="161F3E"/>
                </a:solidFill>
                <a:latin typeface="Heading Now 31-38"/>
              </a:rPr>
              <a:t>LHY 1683507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479517"/>
            <a:chOff x="0" y="0"/>
            <a:chExt cx="24384000" cy="13972689"/>
          </a:xfrm>
        </p:grpSpPr>
        <p:sp>
          <p:nvSpPr>
            <p:cNvPr id="4" name="Freeform 4"/>
            <p:cNvSpPr/>
            <p:nvPr/>
          </p:nvSpPr>
          <p:spPr>
            <a:xfrm>
              <a:off x="0" y="0"/>
              <a:ext cx="2333397" cy="13147537"/>
            </a:xfrm>
            <a:custGeom>
              <a:avLst/>
              <a:gdLst/>
              <a:ahLst/>
              <a:cxnLst/>
              <a:rect l="l" t="t" r="r" b="b"/>
              <a:pathLst>
                <a:path w="2333397" h="13147537">
                  <a:moveTo>
                    <a:pt x="0" y="0"/>
                  </a:moveTo>
                  <a:lnTo>
                    <a:pt x="2333397" y="0"/>
                  </a:lnTo>
                  <a:lnTo>
                    <a:pt x="2333397" y="13147537"/>
                  </a:lnTo>
                  <a:lnTo>
                    <a:pt x="0" y="13147537"/>
                  </a:lnTo>
                  <a:lnTo>
                    <a:pt x="0" y="0"/>
                  </a:lnTo>
                  <a:close/>
                </a:path>
              </a:pathLst>
            </a:custGeom>
            <a:blipFill>
              <a:blip r:embed="rId4"/>
              <a:stretch>
                <a:fillRect/>
              </a:stretch>
            </a:blipFill>
          </p:spPr>
        </p:sp>
        <p:sp>
          <p:nvSpPr>
            <p:cNvPr id="5" name="Freeform 5"/>
            <p:cNvSpPr/>
            <p:nvPr/>
          </p:nvSpPr>
          <p:spPr>
            <a:xfrm>
              <a:off x="19148440" y="8847622"/>
              <a:ext cx="2333397" cy="2303005"/>
            </a:xfrm>
            <a:custGeom>
              <a:avLst/>
              <a:gdLst/>
              <a:ahLst/>
              <a:cxnLst/>
              <a:rect l="l" t="t" r="r" b="b"/>
              <a:pathLst>
                <a:path w="2333397" h="2303005">
                  <a:moveTo>
                    <a:pt x="0" y="0"/>
                  </a:moveTo>
                  <a:lnTo>
                    <a:pt x="2333397" y="0"/>
                  </a:lnTo>
                  <a:lnTo>
                    <a:pt x="2333397" y="2303005"/>
                  </a:lnTo>
                  <a:lnTo>
                    <a:pt x="0" y="2303005"/>
                  </a:lnTo>
                  <a:lnTo>
                    <a:pt x="0" y="0"/>
                  </a:lnTo>
                  <a:close/>
                </a:path>
              </a:pathLst>
            </a:custGeom>
            <a:blipFill>
              <a:blip r:embed="rId5"/>
              <a:stretch>
                <a:fillRect/>
              </a:stretch>
            </a:blipFill>
          </p:spPr>
        </p:sp>
        <p:sp>
          <p:nvSpPr>
            <p:cNvPr id="6" name="Freeform 6"/>
            <p:cNvSpPr/>
            <p:nvPr/>
          </p:nvSpPr>
          <p:spPr>
            <a:xfrm>
              <a:off x="17412976" y="9395831"/>
              <a:ext cx="6971024" cy="4342033"/>
            </a:xfrm>
            <a:custGeom>
              <a:avLst/>
              <a:gdLst/>
              <a:ahLst/>
              <a:cxnLst/>
              <a:rect l="l" t="t" r="r" b="b"/>
              <a:pathLst>
                <a:path w="6971024" h="4342033">
                  <a:moveTo>
                    <a:pt x="0" y="0"/>
                  </a:moveTo>
                  <a:lnTo>
                    <a:pt x="6971024" y="0"/>
                  </a:lnTo>
                  <a:lnTo>
                    <a:pt x="6971024" y="4342033"/>
                  </a:lnTo>
                  <a:lnTo>
                    <a:pt x="0" y="4342033"/>
                  </a:lnTo>
                  <a:lnTo>
                    <a:pt x="0" y="0"/>
                  </a:lnTo>
                  <a:close/>
                </a:path>
              </a:pathLst>
            </a:custGeom>
            <a:blipFill>
              <a:blip r:embed="rId6"/>
              <a:stretch>
                <a:fillRect t="-5743"/>
              </a:stretch>
            </a:blipFill>
          </p:spPr>
        </p:sp>
        <p:sp>
          <p:nvSpPr>
            <p:cNvPr id="7" name="Freeform 7"/>
            <p:cNvSpPr/>
            <p:nvPr/>
          </p:nvSpPr>
          <p:spPr>
            <a:xfrm>
              <a:off x="0" y="9395831"/>
              <a:ext cx="1750048" cy="4576859"/>
            </a:xfrm>
            <a:custGeom>
              <a:avLst/>
              <a:gdLst/>
              <a:ahLst/>
              <a:cxnLst/>
              <a:rect l="l" t="t" r="r" b="b"/>
              <a:pathLst>
                <a:path w="1750048" h="4576859">
                  <a:moveTo>
                    <a:pt x="0" y="0"/>
                  </a:moveTo>
                  <a:lnTo>
                    <a:pt x="1750048" y="0"/>
                  </a:lnTo>
                  <a:lnTo>
                    <a:pt x="1750048" y="4576858"/>
                  </a:lnTo>
                  <a:lnTo>
                    <a:pt x="0" y="4576858"/>
                  </a:lnTo>
                  <a:lnTo>
                    <a:pt x="0" y="0"/>
                  </a:lnTo>
                  <a:close/>
                </a:path>
              </a:pathLst>
            </a:custGeom>
            <a:blipFill>
              <a:blip r:embed="rId7"/>
              <a:stretch>
                <a:fillRect/>
              </a:stretch>
            </a:blipFill>
          </p:spPr>
        </p:sp>
        <p:sp>
          <p:nvSpPr>
            <p:cNvPr id="8" name="Freeform 8"/>
            <p:cNvSpPr/>
            <p:nvPr/>
          </p:nvSpPr>
          <p:spPr>
            <a:xfrm>
              <a:off x="22633952" y="7273416"/>
              <a:ext cx="1750048" cy="5451418"/>
            </a:xfrm>
            <a:custGeom>
              <a:avLst/>
              <a:gdLst/>
              <a:ahLst/>
              <a:cxnLst/>
              <a:rect l="l" t="t" r="r" b="b"/>
              <a:pathLst>
                <a:path w="1750048" h="5451418">
                  <a:moveTo>
                    <a:pt x="0" y="0"/>
                  </a:moveTo>
                  <a:lnTo>
                    <a:pt x="1750048" y="0"/>
                  </a:lnTo>
                  <a:lnTo>
                    <a:pt x="1750048" y="5451417"/>
                  </a:lnTo>
                  <a:lnTo>
                    <a:pt x="0" y="5451417"/>
                  </a:lnTo>
                  <a:lnTo>
                    <a:pt x="0" y="0"/>
                  </a:lnTo>
                  <a:close/>
                </a:path>
              </a:pathLst>
            </a:custGeom>
            <a:blipFill>
              <a:blip r:embed="rId8"/>
              <a:stretch>
                <a:fillRect/>
              </a:stretch>
            </a:blipFill>
          </p:spPr>
        </p:sp>
        <p:sp>
          <p:nvSpPr>
            <p:cNvPr id="9" name="Freeform 9"/>
            <p:cNvSpPr/>
            <p:nvPr/>
          </p:nvSpPr>
          <p:spPr>
            <a:xfrm>
              <a:off x="22275922" y="9395831"/>
              <a:ext cx="1472957" cy="3162988"/>
            </a:xfrm>
            <a:custGeom>
              <a:avLst/>
              <a:gdLst/>
              <a:ahLst/>
              <a:cxnLst/>
              <a:rect l="l" t="t" r="r" b="b"/>
              <a:pathLst>
                <a:path w="1472957" h="3162988">
                  <a:moveTo>
                    <a:pt x="0" y="0"/>
                  </a:moveTo>
                  <a:lnTo>
                    <a:pt x="1472956" y="0"/>
                  </a:lnTo>
                  <a:lnTo>
                    <a:pt x="1472956" y="3162988"/>
                  </a:lnTo>
                  <a:lnTo>
                    <a:pt x="0" y="3162988"/>
                  </a:lnTo>
                  <a:lnTo>
                    <a:pt x="0" y="0"/>
                  </a:lnTo>
                  <a:close/>
                </a:path>
              </a:pathLst>
            </a:custGeom>
            <a:blipFill>
              <a:blip r:embed="rId9"/>
              <a:stretch>
                <a:fillRect/>
              </a:stretch>
            </a:blipFill>
          </p:spPr>
        </p:sp>
      </p:grpSp>
      <p:sp>
        <p:nvSpPr>
          <p:cNvPr id="10" name="TextBox 10"/>
          <p:cNvSpPr txBox="1"/>
          <p:nvPr/>
        </p:nvSpPr>
        <p:spPr>
          <a:xfrm>
            <a:off x="-1418328" y="-57150"/>
            <a:ext cx="8831116" cy="1200150"/>
          </a:xfrm>
          <a:prstGeom prst="rect">
            <a:avLst/>
          </a:prstGeom>
        </p:spPr>
        <p:txBody>
          <a:bodyPr lIns="0" tIns="0" rIns="0" bIns="0" rtlCol="0" anchor="t">
            <a:spAutoFit/>
          </a:bodyPr>
          <a:lstStyle/>
          <a:p>
            <a:pPr algn="ctr">
              <a:lnSpc>
                <a:spcPts val="7500"/>
              </a:lnSpc>
            </a:pPr>
            <a:r>
              <a:rPr lang="en-US" sz="7500" b="1" spc="150">
                <a:solidFill>
                  <a:srgbClr val="172243"/>
                </a:solidFill>
                <a:latin typeface="Heading Now 31-38 Bold"/>
                <a:ea typeface="Heading Now 31-38 Bold"/>
                <a:cs typeface="Heading Now 31-38 Bold"/>
                <a:sym typeface="Heading Now 31-38 Bold"/>
              </a:rPr>
              <a:t>PROBLEM STATEMENT</a:t>
            </a:r>
          </a:p>
        </p:txBody>
      </p:sp>
      <p:sp>
        <p:nvSpPr>
          <p:cNvPr id="11" name="Freeform 11"/>
          <p:cNvSpPr/>
          <p:nvPr/>
        </p:nvSpPr>
        <p:spPr>
          <a:xfrm>
            <a:off x="255295" y="1028700"/>
            <a:ext cx="5020450" cy="535667"/>
          </a:xfrm>
          <a:custGeom>
            <a:avLst/>
            <a:gdLst/>
            <a:ahLst/>
            <a:cxnLst/>
            <a:rect l="l" t="t" r="r" b="b"/>
            <a:pathLst>
              <a:path w="5020450" h="535667">
                <a:moveTo>
                  <a:pt x="0" y="0"/>
                </a:moveTo>
                <a:lnTo>
                  <a:pt x="5020450" y="0"/>
                </a:lnTo>
                <a:lnTo>
                  <a:pt x="5020450" y="535667"/>
                </a:lnTo>
                <a:lnTo>
                  <a:pt x="0" y="535667"/>
                </a:lnTo>
                <a:lnTo>
                  <a:pt x="0" y="0"/>
                </a:lnTo>
                <a:close/>
              </a:path>
            </a:pathLst>
          </a:custGeom>
          <a:blipFill>
            <a:blip r:embed="rId10"/>
            <a:stretch>
              <a:fillRect l="-11250" r="-11250"/>
            </a:stretch>
          </a:blipFill>
        </p:spPr>
      </p:sp>
      <p:sp>
        <p:nvSpPr>
          <p:cNvPr id="12" name="Freeform 12"/>
          <p:cNvSpPr/>
          <p:nvPr/>
        </p:nvSpPr>
        <p:spPr>
          <a:xfrm>
            <a:off x="16178937" y="216170"/>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1"/>
            <a:stretch>
              <a:fillRect/>
            </a:stretch>
          </a:blipFill>
        </p:spPr>
      </p:sp>
      <p:sp>
        <p:nvSpPr>
          <p:cNvPr id="13" name="Freeform 13"/>
          <p:cNvSpPr/>
          <p:nvPr/>
        </p:nvSpPr>
        <p:spPr>
          <a:xfrm>
            <a:off x="13923818" y="2160727"/>
            <a:ext cx="4364182" cy="2153601"/>
          </a:xfrm>
          <a:custGeom>
            <a:avLst/>
            <a:gdLst/>
            <a:ahLst/>
            <a:cxnLst/>
            <a:rect l="l" t="t" r="r" b="b"/>
            <a:pathLst>
              <a:path w="4364182" h="2153601">
                <a:moveTo>
                  <a:pt x="0" y="0"/>
                </a:moveTo>
                <a:lnTo>
                  <a:pt x="4364182" y="0"/>
                </a:lnTo>
                <a:lnTo>
                  <a:pt x="4364182" y="2153601"/>
                </a:lnTo>
                <a:lnTo>
                  <a:pt x="0" y="2153601"/>
                </a:lnTo>
                <a:lnTo>
                  <a:pt x="0" y="0"/>
                </a:lnTo>
                <a:close/>
              </a:path>
            </a:pathLst>
          </a:custGeom>
          <a:blipFill>
            <a:blip r:embed="rId12">
              <a:alphaModFix amt="68000"/>
            </a:blip>
            <a:stretch>
              <a:fillRect/>
            </a:stretch>
          </a:blipFill>
        </p:spPr>
      </p:sp>
      <p:sp>
        <p:nvSpPr>
          <p:cNvPr id="14" name="TextBox 13"/>
          <p:cNvSpPr txBox="1"/>
          <p:nvPr/>
        </p:nvSpPr>
        <p:spPr>
          <a:xfrm>
            <a:off x="822960" y="1783080"/>
            <a:ext cx="14447520" cy="1188720"/>
          </a:xfrm>
          <a:prstGeom prst="rect">
            <a:avLst/>
          </a:prstGeom>
          <a:noFill/>
        </p:spPr>
        <p:txBody>
          <a:bodyPr wrap="square" lIns="0" tIns="0" rIns="0" bIns="0" anchor="t">
            <a:spAutoFit/>
          </a:bodyPr>
          <a:lstStyle/>
          <a:p>
            <a:pPr algn="l">
              <a:spcAft>
                <a:spcPts val="0"/>
              </a:spcAft>
            </a:pPr>
            <a:r>
              <a:rPr sz="2700" b="0" i="0">
                <a:solidFill>
                  <a:srgbClr val="262B40"/>
                </a:solidFill>
                <a:latin typeface="Calibri"/>
              </a:rPr>
              <a:t>Certificates, contracts and official records sit in one custodian's database, and everyone else has to trust it. </a:t>
            </a:r>
            <a:r>
              <a:rPr sz="2700" b="1" i="0">
                <a:solidFill>
                  <a:srgbClr val="172243"/>
                </a:solidFill>
                <a:latin typeface="Calibri"/>
              </a:rPr>
              <a:t>That trust cannot be checked from outside.</a:t>
            </a:r>
          </a:p>
        </p:txBody>
      </p:sp>
      <p:sp>
        <p:nvSpPr>
          <p:cNvPr id="15" name="Rounded Rectangle 14"/>
          <p:cNvSpPr/>
          <p:nvPr/>
        </p:nvSpPr>
        <p:spPr>
          <a:xfrm>
            <a:off x="822960" y="3154680"/>
            <a:ext cx="8686800" cy="3886200"/>
          </a:xfrm>
          <a:prstGeom prst="roundRect">
            <a:avLst>
              <a:gd name="adj" fmla="val 4000"/>
            </a:avLst>
          </a:prstGeom>
          <a:solidFill>
            <a:srgbClr val="FFFFFF">
              <a:alpha val="92000"/>
            </a:srgbClr>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97280" y="3310128"/>
            <a:ext cx="8229600" cy="502920"/>
          </a:xfrm>
          <a:prstGeom prst="rect">
            <a:avLst/>
          </a:prstGeom>
          <a:noFill/>
        </p:spPr>
        <p:txBody>
          <a:bodyPr wrap="square" lIns="0" tIns="0" rIns="0" bIns="0" anchor="ctr">
            <a:spAutoFit/>
          </a:bodyPr>
          <a:lstStyle/>
          <a:p>
            <a:pPr algn="l">
              <a:spcAft>
                <a:spcPts val="0"/>
              </a:spcAft>
            </a:pPr>
            <a:r>
              <a:rPr sz="2800" b="1" i="0" spc="120">
                <a:solidFill>
                  <a:srgbClr val="4E4A76"/>
                </a:solidFill>
                <a:latin typeface="Heading Now 31-38 Bold"/>
              </a:rPr>
              <a:t>WHY A STORED HASH PROVES NOTHING</a:t>
            </a:r>
          </a:p>
        </p:txBody>
      </p:sp>
      <p:sp>
        <p:nvSpPr>
          <p:cNvPr id="17" name="Rounded Rectangle 16"/>
          <p:cNvSpPr/>
          <p:nvPr/>
        </p:nvSpPr>
        <p:spPr>
          <a:xfrm>
            <a:off x="1097280" y="4160520"/>
            <a:ext cx="2148840" cy="1371600"/>
          </a:xfrm>
          <a:prstGeom prst="roundRect">
            <a:avLst>
              <a:gd name="adj" fmla="val 12000"/>
            </a:avLst>
          </a:prstGeom>
          <a:solidFill>
            <a:srgbClr val="FBE4DC"/>
          </a:solidFill>
          <a:ln w="15875">
            <a:solidFill>
              <a:srgbClr val="D9614E"/>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100"/>
              </a:spcAft>
            </a:pPr>
            <a:r>
              <a:rPr sz="2000" b="1" i="0">
                <a:solidFill>
                  <a:srgbClr val="B93A32"/>
                </a:solidFill>
                <a:latin typeface="Calibri"/>
              </a:rPr>
              <a:t>INSIDER</a:t>
            </a:r>
          </a:p>
          <a:p>
            <a:pPr algn="ctr">
              <a:spcAft>
                <a:spcPts val="100"/>
              </a:spcAft>
            </a:pPr>
            <a:r>
              <a:rPr sz="1700" b="0" i="0">
                <a:solidFill>
                  <a:srgbClr val="262B40"/>
                </a:solidFill>
                <a:latin typeface="Calibri"/>
              </a:rPr>
              <a:t>write access to</a:t>
            </a:r>
          </a:p>
          <a:p>
            <a:pPr algn="ctr">
              <a:spcAft>
                <a:spcPts val="100"/>
              </a:spcAft>
            </a:pPr>
            <a:r>
              <a:rPr sz="1700" b="0" i="0">
                <a:solidFill>
                  <a:srgbClr val="262B40"/>
                </a:solidFill>
                <a:latin typeface="Calibri"/>
              </a:rPr>
              <a:t>the database</a:t>
            </a:r>
          </a:p>
        </p:txBody>
      </p:sp>
      <p:sp>
        <p:nvSpPr>
          <p:cNvPr id="18" name="Rounded Rectangle 17"/>
          <p:cNvSpPr/>
          <p:nvPr/>
        </p:nvSpPr>
        <p:spPr>
          <a:xfrm>
            <a:off x="3886200" y="3977639"/>
            <a:ext cx="2926080" cy="1783080"/>
          </a:xfrm>
          <a:prstGeom prst="roundRect">
            <a:avLst>
              <a:gd name="adj" fmla="val 8000"/>
            </a:avLst>
          </a:prstGeom>
          <a:solidFill>
            <a:srgbClr val="ECE6F4"/>
          </a:solidFill>
          <a:ln w="15875">
            <a:solidFill>
              <a:srgbClr val="7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886200" y="4005072"/>
            <a:ext cx="2926080" cy="365760"/>
          </a:xfrm>
          <a:prstGeom prst="rect">
            <a:avLst/>
          </a:prstGeom>
          <a:noFill/>
        </p:spPr>
        <p:txBody>
          <a:bodyPr wrap="square" lIns="0" tIns="0" rIns="0" bIns="0" anchor="ctr">
            <a:spAutoFit/>
          </a:bodyPr>
          <a:lstStyle/>
          <a:p>
            <a:pPr algn="ctr">
              <a:spcAft>
                <a:spcPts val="0"/>
              </a:spcAft>
            </a:pPr>
            <a:r>
              <a:rPr sz="1600" b="1" i="0">
                <a:solidFill>
                  <a:srgbClr val="4E4A76"/>
                </a:solidFill>
                <a:latin typeface="Calibri"/>
              </a:rPr>
              <a:t>CUSTODIAN DATABASE</a:t>
            </a:r>
          </a:p>
        </p:txBody>
      </p:sp>
      <p:sp>
        <p:nvSpPr>
          <p:cNvPr id="20" name="Rounded Rectangle 19"/>
          <p:cNvSpPr/>
          <p:nvPr/>
        </p:nvSpPr>
        <p:spPr>
          <a:xfrm>
            <a:off x="4041648" y="4434840"/>
            <a:ext cx="1234440" cy="1143000"/>
          </a:xfrm>
          <a:prstGeom prst="roundRect">
            <a:avLst>
              <a:gd name="adj" fmla="val 12000"/>
            </a:avLst>
          </a:prstGeom>
          <a:solidFill>
            <a:srgbClr val="FFFFFF"/>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100"/>
              </a:spcAft>
            </a:pPr>
            <a:r>
              <a:rPr sz="1800" b="1" i="0">
                <a:solidFill>
                  <a:srgbClr val="172243"/>
                </a:solidFill>
                <a:latin typeface="Calibri"/>
              </a:rPr>
              <a:t>RECORD</a:t>
            </a:r>
          </a:p>
          <a:p>
            <a:pPr algn="ctr">
              <a:spcAft>
                <a:spcPts val="100"/>
              </a:spcAft>
            </a:pPr>
            <a:r>
              <a:rPr sz="1600" b="0" i="0">
                <a:solidFill>
                  <a:srgbClr val="262B40"/>
                </a:solidFill>
                <a:latin typeface="Calibri"/>
              </a:rPr>
              <a:t>edited</a:t>
            </a:r>
          </a:p>
        </p:txBody>
      </p:sp>
      <p:sp>
        <p:nvSpPr>
          <p:cNvPr id="21" name="Rounded Rectangle 20"/>
          <p:cNvSpPr/>
          <p:nvPr/>
        </p:nvSpPr>
        <p:spPr>
          <a:xfrm>
            <a:off x="5422392" y="4434840"/>
            <a:ext cx="1234440" cy="1143000"/>
          </a:xfrm>
          <a:prstGeom prst="roundRect">
            <a:avLst>
              <a:gd name="adj" fmla="val 12000"/>
            </a:avLst>
          </a:prstGeom>
          <a:solidFill>
            <a:srgbClr val="FFFFFF"/>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100"/>
              </a:spcAft>
            </a:pPr>
            <a:r>
              <a:rPr sz="1800" b="1" i="0">
                <a:solidFill>
                  <a:srgbClr val="172243"/>
                </a:solidFill>
                <a:latin typeface="Calibri"/>
              </a:rPr>
              <a:t>HASH</a:t>
            </a:r>
          </a:p>
          <a:p>
            <a:pPr algn="ctr">
              <a:spcAft>
                <a:spcPts val="100"/>
              </a:spcAft>
            </a:pPr>
            <a:r>
              <a:rPr sz="1600" b="0" i="0">
                <a:solidFill>
                  <a:srgbClr val="262B40"/>
                </a:solidFill>
                <a:latin typeface="Calibri"/>
              </a:rPr>
              <a:t>redone</a:t>
            </a:r>
          </a:p>
        </p:txBody>
      </p:sp>
      <p:sp>
        <p:nvSpPr>
          <p:cNvPr id="22" name="Rounded Rectangle 21"/>
          <p:cNvSpPr/>
          <p:nvPr/>
        </p:nvSpPr>
        <p:spPr>
          <a:xfrm>
            <a:off x="7452360" y="4160520"/>
            <a:ext cx="1828800" cy="1371600"/>
          </a:xfrm>
          <a:prstGeom prst="roundRect">
            <a:avLst>
              <a:gd name="adj" fmla="val 12000"/>
            </a:avLst>
          </a:prstGeom>
          <a:solidFill>
            <a:srgbClr val="FFFFFF"/>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100"/>
              </a:spcAft>
            </a:pPr>
            <a:r>
              <a:rPr sz="2000" b="1" i="0">
                <a:solidFill>
                  <a:srgbClr val="172243"/>
                </a:solidFill>
                <a:latin typeface="Calibri"/>
              </a:rPr>
              <a:t>VERIFIER</a:t>
            </a:r>
          </a:p>
          <a:p>
            <a:pPr algn="ctr">
              <a:spcAft>
                <a:spcPts val="100"/>
              </a:spcAft>
            </a:pPr>
            <a:r>
              <a:rPr sz="1700" b="0" i="0">
                <a:solidFill>
                  <a:srgbClr val="262B40"/>
                </a:solidFill>
                <a:latin typeface="Calibri"/>
              </a:rPr>
              <a:t>hash still</a:t>
            </a:r>
          </a:p>
          <a:p>
            <a:pPr algn="ctr">
              <a:spcAft>
                <a:spcPts val="100"/>
              </a:spcAft>
            </a:pPr>
            <a:r>
              <a:rPr sz="1700" b="0" i="0">
                <a:solidFill>
                  <a:srgbClr val="262B40"/>
                </a:solidFill>
                <a:latin typeface="Calibri"/>
              </a:rPr>
              <a:t>matches</a:t>
            </a:r>
          </a:p>
        </p:txBody>
      </p:sp>
      <p:cxnSp>
        <p:nvCxnSpPr>
          <p:cNvPr id="23" name="Connector 22"/>
          <p:cNvCxnSpPr/>
          <p:nvPr/>
        </p:nvCxnSpPr>
        <p:spPr>
          <a:xfrm>
            <a:off x="3246120" y="4846320"/>
            <a:ext cx="640080" cy="0"/>
          </a:xfrm>
          <a:prstGeom prst="line">
            <a:avLst/>
          </a:prstGeom>
          <a:ln w="38100">
            <a:solidFill>
              <a:srgbClr val="D9614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812280" y="4846320"/>
            <a:ext cx="640080" cy="0"/>
          </a:xfrm>
          <a:prstGeom prst="line">
            <a:avLst/>
          </a:prstGeom>
          <a:ln w="38100">
            <a:solidFill>
              <a:srgbClr val="4E4A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097280" y="5943600"/>
            <a:ext cx="8229600" cy="960120"/>
          </a:xfrm>
          <a:prstGeom prst="rect">
            <a:avLst/>
          </a:prstGeom>
          <a:noFill/>
        </p:spPr>
        <p:txBody>
          <a:bodyPr wrap="square" lIns="0" tIns="0" rIns="0" bIns="0" anchor="t">
            <a:spAutoFit/>
          </a:bodyPr>
          <a:lstStyle/>
          <a:p>
            <a:pPr algn="l">
              <a:spcAft>
                <a:spcPts val="0"/>
              </a:spcAft>
            </a:pPr>
            <a:r>
              <a:rPr sz="2100" b="1" i="0">
                <a:solidFill>
                  <a:srgbClr val="B93A32"/>
                </a:solidFill>
                <a:latin typeface="Calibri"/>
              </a:rPr>
              <a:t>Whoever can alter the record can alter its fingerprint too. </a:t>
            </a:r>
            <a:r>
              <a:rPr sz="2100" b="0" i="0">
                <a:solidFill>
                  <a:srgbClr val="262B40"/>
                </a:solidFill>
                <a:latin typeface="Calibri"/>
              </a:rPr>
              <a:t>The two still agree, so the stored value tells an outside party nothing.</a:t>
            </a:r>
          </a:p>
        </p:txBody>
      </p:sp>
      <p:sp>
        <p:nvSpPr>
          <p:cNvPr id="26" name="TextBox 25"/>
          <p:cNvSpPr txBox="1"/>
          <p:nvPr/>
        </p:nvSpPr>
        <p:spPr>
          <a:xfrm>
            <a:off x="9921240" y="3200400"/>
            <a:ext cx="7498079" cy="502920"/>
          </a:xfrm>
          <a:prstGeom prst="rect">
            <a:avLst/>
          </a:prstGeom>
          <a:noFill/>
        </p:spPr>
        <p:txBody>
          <a:bodyPr wrap="square" lIns="0" tIns="0" rIns="0" bIns="0" anchor="ctr">
            <a:spAutoFit/>
          </a:bodyPr>
          <a:lstStyle/>
          <a:p>
            <a:pPr algn="l">
              <a:spcAft>
                <a:spcPts val="0"/>
              </a:spcAft>
            </a:pPr>
            <a:r>
              <a:rPr sz="2800" b="1" i="0" spc="120">
                <a:solidFill>
                  <a:srgbClr val="4E4A76"/>
                </a:solidFill>
                <a:latin typeface="Heading Now 31-38 Bold"/>
              </a:rPr>
              <a:t>WHAT A VERIFIER ACTUALLY NEEDS</a:t>
            </a:r>
          </a:p>
        </p:txBody>
      </p:sp>
      <p:sp>
        <p:nvSpPr>
          <p:cNvPr id="27" name="Rounded Rectangle 26"/>
          <p:cNvSpPr/>
          <p:nvPr/>
        </p:nvSpPr>
        <p:spPr>
          <a:xfrm>
            <a:off x="9921240" y="3840480"/>
            <a:ext cx="7498079" cy="941832"/>
          </a:xfrm>
          <a:prstGeom prst="roundRect">
            <a:avLst>
              <a:gd name="adj" fmla="val 12000"/>
            </a:avLst>
          </a:prstGeom>
          <a:solidFill>
            <a:srgbClr val="FFFFFF">
              <a:alpha val="94000"/>
            </a:srgbClr>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10104120" y="4014216"/>
            <a:ext cx="594360" cy="594360"/>
          </a:xfrm>
          <a:prstGeom prst="ellipse">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2200" b="1" i="0" spc="120">
                <a:solidFill>
                  <a:srgbClr val="FFFFFF"/>
                </a:solidFill>
                <a:latin typeface="Heading Now 31-38 Bold"/>
              </a:rPr>
              <a:t>1</a:t>
            </a:r>
          </a:p>
        </p:txBody>
      </p:sp>
      <p:sp>
        <p:nvSpPr>
          <p:cNvPr id="29" name="TextBox 28"/>
          <p:cNvSpPr txBox="1"/>
          <p:nvPr/>
        </p:nvSpPr>
        <p:spPr>
          <a:xfrm>
            <a:off x="10881360" y="3886200"/>
            <a:ext cx="6400800" cy="850392"/>
          </a:xfrm>
          <a:prstGeom prst="rect">
            <a:avLst/>
          </a:prstGeom>
          <a:noFill/>
        </p:spPr>
        <p:txBody>
          <a:bodyPr wrap="square" lIns="0" tIns="0" rIns="0" bIns="0" anchor="ctr">
            <a:spAutoFit/>
          </a:bodyPr>
          <a:lstStyle/>
          <a:p>
            <a:pPr algn="l">
              <a:spcAft>
                <a:spcPts val="0"/>
              </a:spcAft>
            </a:pPr>
            <a:r>
              <a:rPr sz="2100" b="0" i="0">
                <a:solidFill>
                  <a:srgbClr val="262B40"/>
                </a:solidFill>
                <a:latin typeface="Calibri"/>
              </a:rPr>
              <a:t>A reference the custodian cannot silently rewrite</a:t>
            </a:r>
          </a:p>
        </p:txBody>
      </p:sp>
      <p:sp>
        <p:nvSpPr>
          <p:cNvPr id="30" name="Rounded Rectangle 29"/>
          <p:cNvSpPr/>
          <p:nvPr/>
        </p:nvSpPr>
        <p:spPr>
          <a:xfrm>
            <a:off x="9921240" y="4919472"/>
            <a:ext cx="7498079" cy="941832"/>
          </a:xfrm>
          <a:prstGeom prst="roundRect">
            <a:avLst>
              <a:gd name="adj" fmla="val 12000"/>
            </a:avLst>
          </a:prstGeom>
          <a:solidFill>
            <a:srgbClr val="FFFFFF">
              <a:alpha val="94000"/>
            </a:srgbClr>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Oval 30"/>
          <p:cNvSpPr/>
          <p:nvPr/>
        </p:nvSpPr>
        <p:spPr>
          <a:xfrm>
            <a:off x="10104120" y="5093208"/>
            <a:ext cx="594360" cy="594360"/>
          </a:xfrm>
          <a:prstGeom prst="ellipse">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2200" b="1" i="0" spc="120">
                <a:solidFill>
                  <a:srgbClr val="FFFFFF"/>
                </a:solidFill>
                <a:latin typeface="Heading Now 31-38 Bold"/>
              </a:rPr>
              <a:t>2</a:t>
            </a:r>
          </a:p>
        </p:txBody>
      </p:sp>
      <p:sp>
        <p:nvSpPr>
          <p:cNvPr id="32" name="TextBox 31"/>
          <p:cNvSpPr txBox="1"/>
          <p:nvPr/>
        </p:nvSpPr>
        <p:spPr>
          <a:xfrm>
            <a:off x="10881360" y="4965192"/>
            <a:ext cx="6400800" cy="850392"/>
          </a:xfrm>
          <a:prstGeom prst="rect">
            <a:avLst/>
          </a:prstGeom>
          <a:noFill/>
        </p:spPr>
        <p:txBody>
          <a:bodyPr wrap="square" lIns="0" tIns="0" rIns="0" bIns="0" anchor="ctr">
            <a:spAutoFit/>
          </a:bodyPr>
          <a:lstStyle/>
          <a:p>
            <a:pPr algn="l">
              <a:spcAft>
                <a:spcPts val="0"/>
              </a:spcAft>
            </a:pPr>
            <a:r>
              <a:rPr sz="2100" b="0" i="0">
                <a:solidFill>
                  <a:srgbClr val="262B40"/>
                </a:solidFill>
                <a:latin typeface="Calibri"/>
              </a:rPr>
              <a:t>A way to check one record without downloading the whole registry</a:t>
            </a:r>
          </a:p>
        </p:txBody>
      </p:sp>
      <p:sp>
        <p:nvSpPr>
          <p:cNvPr id="33" name="Rounded Rectangle 32"/>
          <p:cNvSpPr/>
          <p:nvPr/>
        </p:nvSpPr>
        <p:spPr>
          <a:xfrm>
            <a:off x="9921240" y="5998464"/>
            <a:ext cx="7498079" cy="941832"/>
          </a:xfrm>
          <a:prstGeom prst="roundRect">
            <a:avLst>
              <a:gd name="adj" fmla="val 12000"/>
            </a:avLst>
          </a:prstGeom>
          <a:solidFill>
            <a:srgbClr val="FFFFFF">
              <a:alpha val="94000"/>
            </a:srgbClr>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10104120" y="6172200"/>
            <a:ext cx="594360" cy="594360"/>
          </a:xfrm>
          <a:prstGeom prst="ellipse">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spcAft>
                <a:spcPts val="0"/>
              </a:spcAft>
            </a:pPr>
            <a:r>
              <a:rPr sz="2200" b="1" i="0" spc="120">
                <a:solidFill>
                  <a:srgbClr val="FFFFFF"/>
                </a:solidFill>
                <a:latin typeface="Heading Now 31-38 Bold"/>
              </a:rPr>
              <a:t>3</a:t>
            </a:r>
          </a:p>
        </p:txBody>
      </p:sp>
      <p:sp>
        <p:nvSpPr>
          <p:cNvPr id="35" name="TextBox 34"/>
          <p:cNvSpPr txBox="1"/>
          <p:nvPr/>
        </p:nvSpPr>
        <p:spPr>
          <a:xfrm>
            <a:off x="10881360" y="6044184"/>
            <a:ext cx="6400800" cy="850392"/>
          </a:xfrm>
          <a:prstGeom prst="rect">
            <a:avLst/>
          </a:prstGeom>
          <a:noFill/>
        </p:spPr>
        <p:txBody>
          <a:bodyPr wrap="square" lIns="0" tIns="0" rIns="0" bIns="0" anchor="ctr">
            <a:spAutoFit/>
          </a:bodyPr>
          <a:lstStyle/>
          <a:p>
            <a:pPr algn="l">
              <a:spcAft>
                <a:spcPts val="0"/>
              </a:spcAft>
            </a:pPr>
            <a:r>
              <a:rPr sz="2100" b="0" i="0">
                <a:solidFill>
                  <a:srgbClr val="262B40"/>
                </a:solidFill>
                <a:latin typeface="Calibri"/>
              </a:rPr>
              <a:t>The reason a check failed: modified document, invalid proof or root mismatch</a:t>
            </a:r>
          </a:p>
        </p:txBody>
      </p:sp>
      <p:sp>
        <p:nvSpPr>
          <p:cNvPr id="36" name="Rounded Rectangle 35"/>
          <p:cNvSpPr/>
          <p:nvPr/>
        </p:nvSpPr>
        <p:spPr>
          <a:xfrm>
            <a:off x="1554480" y="7315200"/>
            <a:ext cx="11338560" cy="2240280"/>
          </a:xfrm>
          <a:prstGeom prst="roundRect">
            <a:avLst>
              <a:gd name="adj" fmla="val 6000"/>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828800" y="7424927"/>
            <a:ext cx="10789920" cy="457200"/>
          </a:xfrm>
          <a:prstGeom prst="rect">
            <a:avLst/>
          </a:prstGeom>
          <a:noFill/>
        </p:spPr>
        <p:txBody>
          <a:bodyPr wrap="square" lIns="0" tIns="0" rIns="0" bIns="0" anchor="ctr">
            <a:spAutoFit/>
          </a:bodyPr>
          <a:lstStyle/>
          <a:p>
            <a:pPr algn="l">
              <a:spcAft>
                <a:spcPts val="0"/>
              </a:spcAft>
            </a:pPr>
            <a:r>
              <a:rPr sz="2200" b="1" i="0" spc="120">
                <a:solidFill>
                  <a:srgbClr val="F3B9A8"/>
                </a:solidFill>
                <a:latin typeface="Heading Now 31-38 Bold"/>
              </a:rPr>
              <a:t>THE CHALLENGE  (DOMAIN 3, B-01)</a:t>
            </a:r>
          </a:p>
        </p:txBody>
      </p:sp>
      <p:sp>
        <p:nvSpPr>
          <p:cNvPr id="38" name="TextBox 37"/>
          <p:cNvSpPr txBox="1"/>
          <p:nvPr/>
        </p:nvSpPr>
        <p:spPr>
          <a:xfrm>
            <a:off x="1828800" y="7936992"/>
            <a:ext cx="10789920" cy="1554480"/>
          </a:xfrm>
          <a:prstGeom prst="rect">
            <a:avLst/>
          </a:prstGeom>
          <a:noFill/>
        </p:spPr>
        <p:txBody>
          <a:bodyPr wrap="square" lIns="0" tIns="0" rIns="0" bIns="0" anchor="t">
            <a:spAutoFit/>
          </a:bodyPr>
          <a:lstStyle/>
          <a:p>
            <a:pPr algn="l">
              <a:spcAft>
                <a:spcPts val="0"/>
              </a:spcAft>
            </a:pPr>
            <a:r>
              <a:rPr sz="2000" b="0" i="0">
                <a:solidFill>
                  <a:srgbClr val="FFFFFF"/>
                </a:solidFill>
                <a:latin typeface="Calibri"/>
              </a:rPr>
              <a:t>Build a registry where each record has a SHA-256 fingerprint, batches are summarised by a Merkle root published where the registry cannot rewrite it, and an independent verifier confirms or rejects a record from the document, its proof and the published root alone. AI may assist but must never affect the verdict.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479517"/>
            <a:chOff x="0" y="0"/>
            <a:chExt cx="24384000" cy="13972689"/>
          </a:xfrm>
        </p:grpSpPr>
        <p:sp>
          <p:nvSpPr>
            <p:cNvPr id="4" name="Freeform 4"/>
            <p:cNvSpPr/>
            <p:nvPr/>
          </p:nvSpPr>
          <p:spPr>
            <a:xfrm>
              <a:off x="0" y="0"/>
              <a:ext cx="2333397" cy="13147537"/>
            </a:xfrm>
            <a:custGeom>
              <a:avLst/>
              <a:gdLst/>
              <a:ahLst/>
              <a:cxnLst/>
              <a:rect l="l" t="t" r="r" b="b"/>
              <a:pathLst>
                <a:path w="2333397" h="13147537">
                  <a:moveTo>
                    <a:pt x="0" y="0"/>
                  </a:moveTo>
                  <a:lnTo>
                    <a:pt x="2333397" y="0"/>
                  </a:lnTo>
                  <a:lnTo>
                    <a:pt x="2333397" y="13147537"/>
                  </a:lnTo>
                  <a:lnTo>
                    <a:pt x="0" y="13147537"/>
                  </a:lnTo>
                  <a:lnTo>
                    <a:pt x="0" y="0"/>
                  </a:lnTo>
                  <a:close/>
                </a:path>
              </a:pathLst>
            </a:custGeom>
            <a:blipFill>
              <a:blip r:embed="rId4"/>
              <a:stretch>
                <a:fillRect/>
              </a:stretch>
            </a:blipFill>
          </p:spPr>
        </p:sp>
        <p:sp>
          <p:nvSpPr>
            <p:cNvPr id="5" name="Freeform 5"/>
            <p:cNvSpPr/>
            <p:nvPr/>
          </p:nvSpPr>
          <p:spPr>
            <a:xfrm>
              <a:off x="19148440" y="8847622"/>
              <a:ext cx="2333397" cy="2303005"/>
            </a:xfrm>
            <a:custGeom>
              <a:avLst/>
              <a:gdLst/>
              <a:ahLst/>
              <a:cxnLst/>
              <a:rect l="l" t="t" r="r" b="b"/>
              <a:pathLst>
                <a:path w="2333397" h="2303005">
                  <a:moveTo>
                    <a:pt x="0" y="0"/>
                  </a:moveTo>
                  <a:lnTo>
                    <a:pt x="2333397" y="0"/>
                  </a:lnTo>
                  <a:lnTo>
                    <a:pt x="2333397" y="2303005"/>
                  </a:lnTo>
                  <a:lnTo>
                    <a:pt x="0" y="2303005"/>
                  </a:lnTo>
                  <a:lnTo>
                    <a:pt x="0" y="0"/>
                  </a:lnTo>
                  <a:close/>
                </a:path>
              </a:pathLst>
            </a:custGeom>
            <a:blipFill>
              <a:blip r:embed="rId5"/>
              <a:stretch>
                <a:fillRect/>
              </a:stretch>
            </a:blipFill>
          </p:spPr>
        </p:sp>
        <p:sp>
          <p:nvSpPr>
            <p:cNvPr id="6" name="Freeform 6"/>
            <p:cNvSpPr/>
            <p:nvPr/>
          </p:nvSpPr>
          <p:spPr>
            <a:xfrm>
              <a:off x="17412976" y="9395831"/>
              <a:ext cx="6971024" cy="4342033"/>
            </a:xfrm>
            <a:custGeom>
              <a:avLst/>
              <a:gdLst/>
              <a:ahLst/>
              <a:cxnLst/>
              <a:rect l="l" t="t" r="r" b="b"/>
              <a:pathLst>
                <a:path w="6971024" h="4342033">
                  <a:moveTo>
                    <a:pt x="0" y="0"/>
                  </a:moveTo>
                  <a:lnTo>
                    <a:pt x="6971024" y="0"/>
                  </a:lnTo>
                  <a:lnTo>
                    <a:pt x="6971024" y="4342033"/>
                  </a:lnTo>
                  <a:lnTo>
                    <a:pt x="0" y="4342033"/>
                  </a:lnTo>
                  <a:lnTo>
                    <a:pt x="0" y="0"/>
                  </a:lnTo>
                  <a:close/>
                </a:path>
              </a:pathLst>
            </a:custGeom>
            <a:blipFill>
              <a:blip r:embed="rId6"/>
              <a:stretch>
                <a:fillRect t="-5743"/>
              </a:stretch>
            </a:blipFill>
          </p:spPr>
        </p:sp>
        <p:sp>
          <p:nvSpPr>
            <p:cNvPr id="7" name="Freeform 7"/>
            <p:cNvSpPr/>
            <p:nvPr/>
          </p:nvSpPr>
          <p:spPr>
            <a:xfrm>
              <a:off x="0" y="9395831"/>
              <a:ext cx="1750048" cy="4576859"/>
            </a:xfrm>
            <a:custGeom>
              <a:avLst/>
              <a:gdLst/>
              <a:ahLst/>
              <a:cxnLst/>
              <a:rect l="l" t="t" r="r" b="b"/>
              <a:pathLst>
                <a:path w="1750048" h="4576859">
                  <a:moveTo>
                    <a:pt x="0" y="0"/>
                  </a:moveTo>
                  <a:lnTo>
                    <a:pt x="1750048" y="0"/>
                  </a:lnTo>
                  <a:lnTo>
                    <a:pt x="1750048" y="4576858"/>
                  </a:lnTo>
                  <a:lnTo>
                    <a:pt x="0" y="4576858"/>
                  </a:lnTo>
                  <a:lnTo>
                    <a:pt x="0" y="0"/>
                  </a:lnTo>
                  <a:close/>
                </a:path>
              </a:pathLst>
            </a:custGeom>
            <a:blipFill>
              <a:blip r:embed="rId7"/>
              <a:stretch>
                <a:fillRect/>
              </a:stretch>
            </a:blipFill>
          </p:spPr>
        </p:sp>
        <p:sp>
          <p:nvSpPr>
            <p:cNvPr id="8" name="Freeform 8"/>
            <p:cNvSpPr/>
            <p:nvPr/>
          </p:nvSpPr>
          <p:spPr>
            <a:xfrm>
              <a:off x="22633952" y="7273416"/>
              <a:ext cx="1750048" cy="5451418"/>
            </a:xfrm>
            <a:custGeom>
              <a:avLst/>
              <a:gdLst/>
              <a:ahLst/>
              <a:cxnLst/>
              <a:rect l="l" t="t" r="r" b="b"/>
              <a:pathLst>
                <a:path w="1750048" h="5451418">
                  <a:moveTo>
                    <a:pt x="0" y="0"/>
                  </a:moveTo>
                  <a:lnTo>
                    <a:pt x="1750048" y="0"/>
                  </a:lnTo>
                  <a:lnTo>
                    <a:pt x="1750048" y="5451417"/>
                  </a:lnTo>
                  <a:lnTo>
                    <a:pt x="0" y="5451417"/>
                  </a:lnTo>
                  <a:lnTo>
                    <a:pt x="0" y="0"/>
                  </a:lnTo>
                  <a:close/>
                </a:path>
              </a:pathLst>
            </a:custGeom>
            <a:blipFill>
              <a:blip r:embed="rId8"/>
              <a:stretch>
                <a:fillRect/>
              </a:stretch>
            </a:blipFill>
          </p:spPr>
        </p:sp>
        <p:sp>
          <p:nvSpPr>
            <p:cNvPr id="9" name="Freeform 9"/>
            <p:cNvSpPr/>
            <p:nvPr/>
          </p:nvSpPr>
          <p:spPr>
            <a:xfrm>
              <a:off x="22275922" y="9395831"/>
              <a:ext cx="1472957" cy="3162988"/>
            </a:xfrm>
            <a:custGeom>
              <a:avLst/>
              <a:gdLst/>
              <a:ahLst/>
              <a:cxnLst/>
              <a:rect l="l" t="t" r="r" b="b"/>
              <a:pathLst>
                <a:path w="1472957" h="3162988">
                  <a:moveTo>
                    <a:pt x="0" y="0"/>
                  </a:moveTo>
                  <a:lnTo>
                    <a:pt x="1472956" y="0"/>
                  </a:lnTo>
                  <a:lnTo>
                    <a:pt x="1472956" y="3162988"/>
                  </a:lnTo>
                  <a:lnTo>
                    <a:pt x="0" y="3162988"/>
                  </a:lnTo>
                  <a:lnTo>
                    <a:pt x="0" y="0"/>
                  </a:lnTo>
                  <a:close/>
                </a:path>
              </a:pathLst>
            </a:custGeom>
            <a:blipFill>
              <a:blip r:embed="rId9"/>
              <a:stretch>
                <a:fillRect/>
              </a:stretch>
            </a:blipFill>
          </p:spPr>
        </p:sp>
      </p:grpSp>
      <p:sp>
        <p:nvSpPr>
          <p:cNvPr id="10" name="TextBox 10"/>
          <p:cNvSpPr txBox="1"/>
          <p:nvPr/>
        </p:nvSpPr>
        <p:spPr>
          <a:xfrm>
            <a:off x="0" y="-57150"/>
            <a:ext cx="8831116" cy="1200150"/>
          </a:xfrm>
          <a:prstGeom prst="rect">
            <a:avLst/>
          </a:prstGeom>
        </p:spPr>
        <p:txBody>
          <a:bodyPr lIns="0" tIns="0" rIns="0" bIns="0" rtlCol="0" anchor="t">
            <a:spAutoFit/>
          </a:bodyPr>
          <a:lstStyle/>
          <a:p>
            <a:pPr algn="ctr">
              <a:lnSpc>
                <a:spcPts val="7500"/>
              </a:lnSpc>
            </a:pPr>
            <a:r>
              <a:rPr lang="en-US" sz="7500" b="1" spc="150">
                <a:solidFill>
                  <a:srgbClr val="172243"/>
                </a:solidFill>
                <a:latin typeface="Heading Now 31-38 Bold"/>
                <a:ea typeface="Heading Now 31-38 Bold"/>
                <a:cs typeface="Heading Now 31-38 Bold"/>
                <a:sym typeface="Heading Now 31-38 Bold"/>
              </a:rPr>
              <a:t>IDEA TITLE / PROPOSED SOLUTION</a:t>
            </a:r>
          </a:p>
        </p:txBody>
      </p:sp>
      <p:sp>
        <p:nvSpPr>
          <p:cNvPr id="11" name="Freeform 11"/>
          <p:cNvSpPr/>
          <p:nvPr/>
        </p:nvSpPr>
        <p:spPr>
          <a:xfrm>
            <a:off x="255295" y="1028700"/>
            <a:ext cx="5020450" cy="535667"/>
          </a:xfrm>
          <a:custGeom>
            <a:avLst/>
            <a:gdLst/>
            <a:ahLst/>
            <a:cxnLst/>
            <a:rect l="l" t="t" r="r" b="b"/>
            <a:pathLst>
              <a:path w="5020450" h="535667">
                <a:moveTo>
                  <a:pt x="0" y="0"/>
                </a:moveTo>
                <a:lnTo>
                  <a:pt x="5020450" y="0"/>
                </a:lnTo>
                <a:lnTo>
                  <a:pt x="5020450" y="535667"/>
                </a:lnTo>
                <a:lnTo>
                  <a:pt x="0" y="535667"/>
                </a:lnTo>
                <a:lnTo>
                  <a:pt x="0" y="0"/>
                </a:lnTo>
                <a:close/>
              </a:path>
            </a:pathLst>
          </a:custGeom>
          <a:blipFill>
            <a:blip r:embed="rId10"/>
            <a:stretch>
              <a:fillRect l="-11250" r="-11250"/>
            </a:stretch>
          </a:blipFill>
        </p:spPr>
      </p:sp>
      <p:sp>
        <p:nvSpPr>
          <p:cNvPr id="12" name="Freeform 12"/>
          <p:cNvSpPr/>
          <p:nvPr/>
        </p:nvSpPr>
        <p:spPr>
          <a:xfrm>
            <a:off x="16178937" y="216170"/>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1"/>
            <a:stretch>
              <a:fillRect/>
            </a:stretch>
          </a:blipFill>
        </p:spPr>
      </p:sp>
      <p:sp>
        <p:nvSpPr>
          <p:cNvPr id="13" name="Freeform 13"/>
          <p:cNvSpPr/>
          <p:nvPr/>
        </p:nvSpPr>
        <p:spPr>
          <a:xfrm>
            <a:off x="13923818" y="2160727"/>
            <a:ext cx="4364182" cy="2153601"/>
          </a:xfrm>
          <a:custGeom>
            <a:avLst/>
            <a:gdLst/>
            <a:ahLst/>
            <a:cxnLst/>
            <a:rect l="l" t="t" r="r" b="b"/>
            <a:pathLst>
              <a:path w="4364182" h="2153601">
                <a:moveTo>
                  <a:pt x="0" y="0"/>
                </a:moveTo>
                <a:lnTo>
                  <a:pt x="4364182" y="0"/>
                </a:lnTo>
                <a:lnTo>
                  <a:pt x="4364182" y="2153601"/>
                </a:lnTo>
                <a:lnTo>
                  <a:pt x="0" y="2153601"/>
                </a:lnTo>
                <a:lnTo>
                  <a:pt x="0" y="0"/>
                </a:lnTo>
                <a:close/>
              </a:path>
            </a:pathLst>
          </a:custGeom>
          <a:blipFill>
            <a:blip r:embed="rId12">
              <a:alphaModFix amt="68000"/>
            </a:blip>
            <a:stretch>
              <a:fillRect/>
            </a:stretch>
          </a:blipFill>
        </p:spPr>
      </p:sp>
      <p:sp>
        <p:nvSpPr>
          <p:cNvPr id="14" name="TextBox 13"/>
          <p:cNvSpPr txBox="1"/>
          <p:nvPr/>
        </p:nvSpPr>
        <p:spPr>
          <a:xfrm>
            <a:off x="822960" y="1783080"/>
            <a:ext cx="14996159" cy="1234440"/>
          </a:xfrm>
          <a:prstGeom prst="rect">
            <a:avLst/>
          </a:prstGeom>
          <a:noFill/>
        </p:spPr>
        <p:txBody>
          <a:bodyPr wrap="square" lIns="0" tIns="0" rIns="0" bIns="0" anchor="t">
            <a:spAutoFit/>
          </a:bodyPr>
          <a:lstStyle/>
          <a:p>
            <a:pPr algn="l">
              <a:spcAft>
                <a:spcPts val="0"/>
              </a:spcAft>
            </a:pPr>
            <a:r>
              <a:rPr sz="3000" b="1" i="0" spc="120">
                <a:solidFill>
                  <a:srgbClr val="172243"/>
                </a:solidFill>
                <a:latin typeface="Heading Now 31-38 Bold"/>
              </a:rPr>
              <a:t>ProofChain </a:t>
            </a:r>
            <a:r>
              <a:rPr sz="2500" b="0" i="0">
                <a:solidFill>
                  <a:srgbClr val="262B40"/>
                </a:solidFill>
                <a:latin typeface="Calibri"/>
              </a:rPr>
              <a:t>makes a registry checkable instead of trusted. Every record is fingerprinted, each batch is committed to one Merkle root, the root is published to a ledger the registry cannot rewrite, and anyone can verify a document with a small proof file.</a:t>
            </a:r>
          </a:p>
        </p:txBody>
      </p:sp>
      <p:sp>
        <p:nvSpPr>
          <p:cNvPr id="15" name="TextBox 14"/>
          <p:cNvSpPr txBox="1"/>
          <p:nvPr/>
        </p:nvSpPr>
        <p:spPr>
          <a:xfrm>
            <a:off x="822960" y="3108960"/>
            <a:ext cx="10972800" cy="502920"/>
          </a:xfrm>
          <a:prstGeom prst="rect">
            <a:avLst/>
          </a:prstGeom>
          <a:noFill/>
        </p:spPr>
        <p:txBody>
          <a:bodyPr wrap="square" lIns="0" tIns="0" rIns="0" bIns="0" anchor="ctr">
            <a:spAutoFit/>
          </a:bodyPr>
          <a:lstStyle/>
          <a:p>
            <a:pPr algn="l">
              <a:spcAft>
                <a:spcPts val="0"/>
              </a:spcAft>
            </a:pPr>
            <a:r>
              <a:rPr sz="2300" b="1" i="0" spc="120">
                <a:solidFill>
                  <a:srgbClr val="4E4A76"/>
                </a:solidFill>
                <a:latin typeface="Heading Now 31-38 Bold"/>
              </a:rPr>
              <a:t>FLOW A: REGISTER AND PUBLISH  (custodian, signed in)</a:t>
            </a:r>
          </a:p>
        </p:txBody>
      </p:sp>
      <p:sp>
        <p:nvSpPr>
          <p:cNvPr id="16" name="Rounded Rectangle 15"/>
          <p:cNvSpPr/>
          <p:nvPr/>
        </p:nvSpPr>
        <p:spPr>
          <a:xfrm>
            <a:off x="822960" y="3703320"/>
            <a:ext cx="2514600" cy="1463040"/>
          </a:xfrm>
          <a:prstGeom prst="roundRect">
            <a:avLst>
              <a:gd name="adj" fmla="val 12000"/>
            </a:avLst>
          </a:prstGeom>
          <a:solidFill>
            <a:srgbClr val="ECE6F4"/>
          </a:solidFill>
          <a:ln w="15875">
            <a:solidFill>
              <a:srgbClr val="7F5E87"/>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100"/>
              </a:spcAft>
            </a:pPr>
            <a:r>
              <a:rPr sz="2000" b="1" i="0">
                <a:solidFill>
                  <a:srgbClr val="172243"/>
                </a:solidFill>
                <a:latin typeface="Calibri"/>
              </a:rPr>
              <a:t>1  UPLOAD</a:t>
            </a:r>
          </a:p>
          <a:p>
            <a:pPr algn="ctr">
              <a:spcAft>
                <a:spcPts val="100"/>
              </a:spcAft>
            </a:pPr>
            <a:r>
              <a:rPr sz="1700" b="0" i="0">
                <a:solidFill>
                  <a:srgbClr val="262B40"/>
                </a:solidFill>
                <a:latin typeface="Calibri"/>
              </a:rPr>
              <a:t>Document put into</a:t>
            </a:r>
          </a:p>
          <a:p>
            <a:pPr algn="ctr">
              <a:spcAft>
                <a:spcPts val="100"/>
              </a:spcAft>
            </a:pPr>
            <a:r>
              <a:rPr sz="1700" b="0" i="0">
                <a:solidFill>
                  <a:srgbClr val="262B40"/>
                </a:solidFill>
                <a:latin typeface="Calibri"/>
              </a:rPr>
              <a:t>canonical form</a:t>
            </a:r>
          </a:p>
        </p:txBody>
      </p:sp>
      <p:cxnSp>
        <p:nvCxnSpPr>
          <p:cNvPr id="17" name="Connector 16"/>
          <p:cNvCxnSpPr/>
          <p:nvPr/>
        </p:nvCxnSpPr>
        <p:spPr>
          <a:xfrm>
            <a:off x="3364991" y="4434840"/>
            <a:ext cx="256033" cy="0"/>
          </a:xfrm>
          <a:prstGeom prst="line">
            <a:avLst/>
          </a:prstGeom>
          <a:ln w="38100">
            <a:solidFill>
              <a:srgbClr val="4E4A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648456" y="3703320"/>
            <a:ext cx="2514600" cy="1463040"/>
          </a:xfrm>
          <a:prstGeom prst="roundRect">
            <a:avLst>
              <a:gd name="adj" fmla="val 12000"/>
            </a:avLst>
          </a:prstGeom>
          <a:solidFill>
            <a:srgbClr val="ECE6F4"/>
          </a:solidFill>
          <a:ln w="15875">
            <a:solidFill>
              <a:srgbClr val="7F5E87"/>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100"/>
              </a:spcAft>
            </a:pPr>
            <a:r>
              <a:rPr sz="2000" b="1" i="0">
                <a:solidFill>
                  <a:srgbClr val="172243"/>
                </a:solidFill>
                <a:latin typeface="Calibri"/>
              </a:rPr>
              <a:t>2  FINGERPRINT</a:t>
            </a:r>
          </a:p>
          <a:p>
            <a:pPr algn="ctr">
              <a:spcAft>
                <a:spcPts val="100"/>
              </a:spcAft>
            </a:pPr>
            <a:r>
              <a:rPr sz="1700" b="0" i="0">
                <a:solidFill>
                  <a:srgbClr val="262B40"/>
                </a:solidFill>
                <a:latin typeface="Calibri"/>
              </a:rPr>
              <a:t>SHA-256 digest plus a</a:t>
            </a:r>
          </a:p>
          <a:p>
            <a:pPr algn="ctr">
              <a:spcAft>
                <a:spcPts val="100"/>
              </a:spcAft>
            </a:pPr>
            <a:r>
              <a:rPr sz="1700" b="0" i="0">
                <a:solidFill>
                  <a:srgbClr val="262B40"/>
                </a:solidFill>
                <a:latin typeface="Calibri"/>
              </a:rPr>
              <a:t>random 32-byte salt</a:t>
            </a:r>
          </a:p>
        </p:txBody>
      </p:sp>
      <p:cxnSp>
        <p:nvCxnSpPr>
          <p:cNvPr id="19" name="Connector 18"/>
          <p:cNvCxnSpPr/>
          <p:nvPr/>
        </p:nvCxnSpPr>
        <p:spPr>
          <a:xfrm>
            <a:off x="6190488" y="4434840"/>
            <a:ext cx="256032" cy="0"/>
          </a:xfrm>
          <a:prstGeom prst="line">
            <a:avLst/>
          </a:prstGeom>
          <a:ln w="38100">
            <a:solidFill>
              <a:srgbClr val="4E4A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473952" y="3703320"/>
            <a:ext cx="2514600" cy="1463040"/>
          </a:xfrm>
          <a:prstGeom prst="roundRect">
            <a:avLst>
              <a:gd name="adj" fmla="val 12000"/>
            </a:avLst>
          </a:prstGeom>
          <a:solidFill>
            <a:srgbClr val="FBE4DC"/>
          </a:solidFill>
          <a:ln w="15875">
            <a:solidFill>
              <a:srgbClr val="D9614E"/>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100"/>
              </a:spcAft>
            </a:pPr>
            <a:r>
              <a:rPr sz="2000" b="1" i="0">
                <a:solidFill>
                  <a:srgbClr val="172243"/>
                </a:solidFill>
                <a:latin typeface="Calibri"/>
              </a:rPr>
              <a:t>3  CONFIRM</a:t>
            </a:r>
          </a:p>
          <a:p>
            <a:pPr algn="ctr">
              <a:spcAft>
                <a:spcPts val="100"/>
              </a:spcAft>
            </a:pPr>
            <a:r>
              <a:rPr sz="1700" b="0" i="0">
                <a:solidFill>
                  <a:srgbClr val="262B40"/>
                </a:solidFill>
                <a:latin typeface="Calibri"/>
              </a:rPr>
              <a:t>AI suggests metadata,</a:t>
            </a:r>
          </a:p>
          <a:p>
            <a:pPr algn="ctr">
              <a:spcAft>
                <a:spcPts val="100"/>
              </a:spcAft>
            </a:pPr>
            <a:r>
              <a:rPr sz="1700" b="0" i="0">
                <a:solidFill>
                  <a:srgbClr val="262B40"/>
                </a:solidFill>
                <a:latin typeface="Calibri"/>
              </a:rPr>
              <a:t>a custodian confirms</a:t>
            </a:r>
          </a:p>
        </p:txBody>
      </p:sp>
      <p:cxnSp>
        <p:nvCxnSpPr>
          <p:cNvPr id="21" name="Connector 20"/>
          <p:cNvCxnSpPr/>
          <p:nvPr/>
        </p:nvCxnSpPr>
        <p:spPr>
          <a:xfrm>
            <a:off x="9015984" y="4434840"/>
            <a:ext cx="256032" cy="0"/>
          </a:xfrm>
          <a:prstGeom prst="line">
            <a:avLst/>
          </a:prstGeom>
          <a:ln w="38100">
            <a:solidFill>
              <a:srgbClr val="4E4A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299448" y="3703320"/>
            <a:ext cx="2514600" cy="1463040"/>
          </a:xfrm>
          <a:prstGeom prst="roundRect">
            <a:avLst>
              <a:gd name="adj" fmla="val 12000"/>
            </a:avLst>
          </a:prstGeom>
          <a:solidFill>
            <a:srgbClr val="ECE6F4"/>
          </a:solidFill>
          <a:ln w="15875">
            <a:solidFill>
              <a:srgbClr val="7F5E87"/>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100"/>
              </a:spcAft>
            </a:pPr>
            <a:r>
              <a:rPr sz="2000" b="1" i="0">
                <a:solidFill>
                  <a:srgbClr val="172243"/>
                </a:solidFill>
                <a:latin typeface="Calibri"/>
              </a:rPr>
              <a:t>4  SEAL BATCH</a:t>
            </a:r>
          </a:p>
          <a:p>
            <a:pPr algn="ctr">
              <a:spcAft>
                <a:spcPts val="100"/>
              </a:spcAft>
            </a:pPr>
            <a:r>
              <a:rPr sz="1700" b="0" i="0">
                <a:solidFill>
                  <a:srgbClr val="262B40"/>
                </a:solidFill>
                <a:latin typeface="Calibri"/>
              </a:rPr>
              <a:t>Salted Merkle tree</a:t>
            </a:r>
          </a:p>
          <a:p>
            <a:pPr algn="ctr">
              <a:spcAft>
                <a:spcPts val="100"/>
              </a:spcAft>
            </a:pPr>
            <a:r>
              <a:rPr sz="1700" b="0" i="0">
                <a:solidFill>
                  <a:srgbClr val="262B40"/>
                </a:solidFill>
                <a:latin typeface="Calibri"/>
              </a:rPr>
              <a:t>reduces batch to a root</a:t>
            </a:r>
          </a:p>
        </p:txBody>
      </p:sp>
      <p:cxnSp>
        <p:nvCxnSpPr>
          <p:cNvPr id="23" name="Connector 22"/>
          <p:cNvCxnSpPr/>
          <p:nvPr/>
        </p:nvCxnSpPr>
        <p:spPr>
          <a:xfrm>
            <a:off x="11841480" y="4434840"/>
            <a:ext cx="256032" cy="0"/>
          </a:xfrm>
          <a:prstGeom prst="line">
            <a:avLst/>
          </a:prstGeom>
          <a:ln w="38100">
            <a:solidFill>
              <a:srgbClr val="4E4A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2124944" y="3703320"/>
            <a:ext cx="2514600" cy="1463040"/>
          </a:xfrm>
          <a:prstGeom prst="roundRect">
            <a:avLst>
              <a:gd name="adj" fmla="val 12000"/>
            </a:avLst>
          </a:prstGeom>
          <a:solidFill>
            <a:srgbClr val="ECE6F4"/>
          </a:solidFill>
          <a:ln w="15875">
            <a:solidFill>
              <a:srgbClr val="7F5E87"/>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100"/>
              </a:spcAft>
            </a:pPr>
            <a:r>
              <a:rPr sz="2000" b="1" i="0">
                <a:solidFill>
                  <a:srgbClr val="172243"/>
                </a:solidFill>
                <a:latin typeface="Calibri"/>
              </a:rPr>
              <a:t>5  PUBLISH ROOT</a:t>
            </a:r>
          </a:p>
          <a:p>
            <a:pPr algn="ctr">
              <a:spcAft>
                <a:spcPts val="100"/>
              </a:spcAft>
            </a:pPr>
            <a:r>
              <a:rPr sz="1700" b="0" i="0">
                <a:solidFill>
                  <a:srgbClr val="262B40"/>
                </a:solidFill>
                <a:latin typeface="Calibri"/>
              </a:rPr>
              <a:t>Appended to a signed,</a:t>
            </a:r>
          </a:p>
          <a:p>
            <a:pPr algn="ctr">
              <a:spcAft>
                <a:spcPts val="100"/>
              </a:spcAft>
            </a:pPr>
            <a:r>
              <a:rPr sz="1700" b="0" i="0">
                <a:solidFill>
                  <a:srgbClr val="262B40"/>
                </a:solidFill>
                <a:latin typeface="Calibri"/>
              </a:rPr>
              <a:t>hash-chained ledger</a:t>
            </a:r>
          </a:p>
        </p:txBody>
      </p:sp>
      <p:cxnSp>
        <p:nvCxnSpPr>
          <p:cNvPr id="25" name="Connector 24"/>
          <p:cNvCxnSpPr/>
          <p:nvPr/>
        </p:nvCxnSpPr>
        <p:spPr>
          <a:xfrm>
            <a:off x="14666976" y="4434840"/>
            <a:ext cx="256031" cy="0"/>
          </a:xfrm>
          <a:prstGeom prst="line">
            <a:avLst/>
          </a:prstGeom>
          <a:ln w="38100">
            <a:solidFill>
              <a:srgbClr val="4E4A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4950439" y="3703320"/>
            <a:ext cx="2514600" cy="1463040"/>
          </a:xfrm>
          <a:prstGeom prst="roundRect">
            <a:avLst>
              <a:gd name="adj" fmla="val 12000"/>
            </a:avLst>
          </a:prstGeom>
          <a:solidFill>
            <a:srgbClr val="ECE6F4"/>
          </a:solidFill>
          <a:ln w="15875">
            <a:solidFill>
              <a:srgbClr val="7F5E87"/>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100"/>
              </a:spcAft>
            </a:pPr>
            <a:r>
              <a:rPr sz="2000" b="1" i="0">
                <a:solidFill>
                  <a:srgbClr val="172243"/>
                </a:solidFill>
                <a:latin typeface="Calibri"/>
              </a:rPr>
              <a:t>6  ISSUE PROOF</a:t>
            </a:r>
          </a:p>
          <a:p>
            <a:pPr algn="ctr">
              <a:spcAft>
                <a:spcPts val="100"/>
              </a:spcAft>
            </a:pPr>
            <a:r>
              <a:rPr sz="1700" b="0" i="0">
                <a:solidFill>
                  <a:srgbClr val="262B40"/>
                </a:solidFill>
                <a:latin typeface="Calibri"/>
              </a:rPr>
              <a:t>Holder gets document</a:t>
            </a:r>
          </a:p>
          <a:p>
            <a:pPr algn="ctr">
              <a:spcAft>
                <a:spcPts val="100"/>
              </a:spcAft>
            </a:pPr>
            <a:r>
              <a:rPr sz="1700" b="0" i="0">
                <a:solidFill>
                  <a:srgbClr val="262B40"/>
                </a:solidFill>
                <a:latin typeface="Calibri"/>
              </a:rPr>
              <a:t>and a proof bundle</a:t>
            </a:r>
          </a:p>
        </p:txBody>
      </p:sp>
      <p:sp>
        <p:nvSpPr>
          <p:cNvPr id="27" name="TextBox 26"/>
          <p:cNvSpPr txBox="1"/>
          <p:nvPr/>
        </p:nvSpPr>
        <p:spPr>
          <a:xfrm>
            <a:off x="822960" y="5486400"/>
            <a:ext cx="10972800" cy="502920"/>
          </a:xfrm>
          <a:prstGeom prst="rect">
            <a:avLst/>
          </a:prstGeom>
          <a:noFill/>
        </p:spPr>
        <p:txBody>
          <a:bodyPr wrap="square" lIns="0" tIns="0" rIns="0" bIns="0" anchor="ctr">
            <a:spAutoFit/>
          </a:bodyPr>
          <a:lstStyle/>
          <a:p>
            <a:pPr algn="l">
              <a:spcAft>
                <a:spcPts val="0"/>
              </a:spcAft>
            </a:pPr>
            <a:r>
              <a:rPr sz="2300" b="1" i="0" spc="120">
                <a:solidFill>
                  <a:srgbClr val="4E4A76"/>
                </a:solidFill>
                <a:latin typeface="Heading Now 31-38 Bold"/>
              </a:rPr>
              <a:t>FLOW B: VERIFY  (anyone, no account, registry not consulted)</a:t>
            </a:r>
          </a:p>
        </p:txBody>
      </p:sp>
      <p:sp>
        <p:nvSpPr>
          <p:cNvPr id="28" name="Rounded Rectangle 27"/>
          <p:cNvSpPr/>
          <p:nvPr/>
        </p:nvSpPr>
        <p:spPr>
          <a:xfrm>
            <a:off x="822960" y="6080760"/>
            <a:ext cx="2834640" cy="1828800"/>
          </a:xfrm>
          <a:prstGeom prst="roundRect">
            <a:avLst>
              <a:gd name="adj" fmla="val 12000"/>
            </a:avLst>
          </a:prstGeom>
          <a:solidFill>
            <a:srgbClr val="172243"/>
          </a:solidFill>
          <a:ln w="15875">
            <a:solidFill>
              <a:srgbClr val="172243"/>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100"/>
              </a:spcAft>
            </a:pPr>
            <a:r>
              <a:rPr sz="2100" b="1" i="0">
                <a:solidFill>
                  <a:srgbClr val="F3B9A8"/>
                </a:solidFill>
                <a:latin typeface="Calibri"/>
              </a:rPr>
              <a:t>INPUTS</a:t>
            </a:r>
          </a:p>
          <a:p>
            <a:pPr algn="ctr">
              <a:spcAft>
                <a:spcPts val="100"/>
              </a:spcAft>
            </a:pPr>
            <a:r>
              <a:rPr sz="1800" b="0" i="0">
                <a:solidFill>
                  <a:srgbClr val="FFFFFF"/>
                </a:solidFill>
                <a:latin typeface="Calibri"/>
              </a:rPr>
              <a:t>Document</a:t>
            </a:r>
          </a:p>
          <a:p>
            <a:pPr algn="ctr">
              <a:spcAft>
                <a:spcPts val="100"/>
              </a:spcAft>
            </a:pPr>
            <a:r>
              <a:rPr sz="1800" b="0" i="0">
                <a:solidFill>
                  <a:srgbClr val="FFFFFF"/>
                </a:solidFill>
                <a:latin typeface="Calibri"/>
              </a:rPr>
              <a:t>Proof bundle</a:t>
            </a:r>
          </a:p>
          <a:p>
            <a:pPr algn="ctr">
              <a:spcAft>
                <a:spcPts val="100"/>
              </a:spcAft>
            </a:pPr>
            <a:r>
              <a:rPr sz="1800" b="0" i="0">
                <a:solidFill>
                  <a:srgbClr val="FFFFFF"/>
                </a:solidFill>
                <a:latin typeface="Calibri"/>
              </a:rPr>
              <a:t>Published ledger</a:t>
            </a:r>
          </a:p>
        </p:txBody>
      </p:sp>
      <p:cxnSp>
        <p:nvCxnSpPr>
          <p:cNvPr id="29" name="Connector 28"/>
          <p:cNvCxnSpPr/>
          <p:nvPr/>
        </p:nvCxnSpPr>
        <p:spPr>
          <a:xfrm>
            <a:off x="3685032" y="6995160"/>
            <a:ext cx="356616" cy="0"/>
          </a:xfrm>
          <a:prstGeom prst="line">
            <a:avLst/>
          </a:prstGeom>
          <a:ln w="38100">
            <a:solidFill>
              <a:srgbClr val="4E4A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069080" y="6080760"/>
            <a:ext cx="2103120" cy="1828800"/>
          </a:xfrm>
          <a:prstGeom prst="roundRect">
            <a:avLst>
              <a:gd name="adj" fmla="val 10000"/>
            </a:avLst>
          </a:prstGeom>
          <a:solidFill>
            <a:srgbClr val="FFFFFF"/>
          </a:solidFill>
          <a:ln w="15875">
            <a:solidFill>
              <a:srgbClr val="7F5E87"/>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spcAft>
                <a:spcPts val="100"/>
              </a:spcAft>
            </a:pPr>
            <a:r>
              <a:rPr sz="1900" b="1" i="0">
                <a:solidFill>
                  <a:srgbClr val="172243"/>
                </a:solidFill>
                <a:latin typeface="Calibri"/>
              </a:rPr>
              <a:t>1  FINGERPRINT</a:t>
            </a:r>
          </a:p>
          <a:p>
            <a:pPr algn="ctr">
              <a:spcAft>
                <a:spcPts val="100"/>
              </a:spcAft>
            </a:pPr>
            <a:r>
              <a:rPr sz="1600" b="0" i="0">
                <a:solidFill>
                  <a:srgbClr val="5A5F78"/>
                </a:solidFill>
                <a:latin typeface="Calibri"/>
              </a:rPr>
              <a:t>fails as</a:t>
            </a:r>
          </a:p>
          <a:p>
            <a:pPr algn="ctr">
              <a:spcAft>
                <a:spcPts val="100"/>
              </a:spcAft>
            </a:pPr>
            <a:r>
              <a:rPr sz="1600" b="1" i="0">
                <a:solidFill>
                  <a:srgbClr val="B93A32"/>
                </a:solidFill>
                <a:latin typeface="Consolas"/>
              </a:rPr>
              <a:t>DOCUMENT_</a:t>
            </a:r>
          </a:p>
          <a:p>
            <a:pPr algn="ctr">
              <a:spcAft>
                <a:spcPts val="100"/>
              </a:spcAft>
            </a:pPr>
            <a:r>
              <a:rPr sz="1600" b="1" i="0">
                <a:solidFill>
                  <a:srgbClr val="B93A32"/>
                </a:solidFill>
                <a:latin typeface="Consolas"/>
              </a:rPr>
              <a:t>MODIFIED</a:t>
            </a:r>
          </a:p>
        </p:txBody>
      </p:sp>
      <p:sp>
        <p:nvSpPr>
          <p:cNvPr id="31" name="Rounded Rectangle 30"/>
          <p:cNvSpPr/>
          <p:nvPr/>
        </p:nvSpPr>
        <p:spPr>
          <a:xfrm>
            <a:off x="6355080" y="6080760"/>
            <a:ext cx="2103120" cy="1828800"/>
          </a:xfrm>
          <a:prstGeom prst="roundRect">
            <a:avLst>
              <a:gd name="adj" fmla="val 10000"/>
            </a:avLst>
          </a:prstGeom>
          <a:solidFill>
            <a:srgbClr val="FFFFFF"/>
          </a:solidFill>
          <a:ln w="15875">
            <a:solidFill>
              <a:srgbClr val="7F5E87"/>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spcAft>
                <a:spcPts val="100"/>
              </a:spcAft>
            </a:pPr>
            <a:r>
              <a:rPr sz="1900" b="1" i="0">
                <a:solidFill>
                  <a:srgbClr val="172243"/>
                </a:solidFill>
                <a:latin typeface="Calibri"/>
              </a:rPr>
              <a:t>2  PROOF PATH</a:t>
            </a:r>
          </a:p>
          <a:p>
            <a:pPr algn="ctr">
              <a:spcAft>
                <a:spcPts val="100"/>
              </a:spcAft>
            </a:pPr>
            <a:r>
              <a:rPr sz="1600" b="0" i="0">
                <a:solidFill>
                  <a:srgbClr val="5A5F78"/>
                </a:solidFill>
                <a:latin typeface="Calibri"/>
              </a:rPr>
              <a:t>fails as</a:t>
            </a:r>
          </a:p>
          <a:p>
            <a:pPr algn="ctr">
              <a:spcAft>
                <a:spcPts val="100"/>
              </a:spcAft>
            </a:pPr>
            <a:r>
              <a:rPr sz="1600" b="1" i="0">
                <a:solidFill>
                  <a:srgbClr val="B93A32"/>
                </a:solidFill>
                <a:latin typeface="Consolas"/>
              </a:rPr>
              <a:t>PROOF_</a:t>
            </a:r>
          </a:p>
          <a:p>
            <a:pPr algn="ctr">
              <a:spcAft>
                <a:spcPts val="100"/>
              </a:spcAft>
            </a:pPr>
            <a:r>
              <a:rPr sz="1600" b="1" i="0">
                <a:solidFill>
                  <a:srgbClr val="B93A32"/>
                </a:solidFill>
                <a:latin typeface="Consolas"/>
              </a:rPr>
              <a:t>INVALID</a:t>
            </a:r>
          </a:p>
        </p:txBody>
      </p:sp>
      <p:sp>
        <p:nvSpPr>
          <p:cNvPr id="32" name="Rounded Rectangle 31"/>
          <p:cNvSpPr/>
          <p:nvPr/>
        </p:nvSpPr>
        <p:spPr>
          <a:xfrm>
            <a:off x="8641080" y="6080760"/>
            <a:ext cx="2103120" cy="1828800"/>
          </a:xfrm>
          <a:prstGeom prst="roundRect">
            <a:avLst>
              <a:gd name="adj" fmla="val 10000"/>
            </a:avLst>
          </a:prstGeom>
          <a:solidFill>
            <a:srgbClr val="FFFFFF"/>
          </a:solidFill>
          <a:ln w="15875">
            <a:solidFill>
              <a:srgbClr val="7F5E87"/>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spcAft>
                <a:spcPts val="100"/>
              </a:spcAft>
            </a:pPr>
            <a:r>
              <a:rPr sz="1900" b="1" i="0">
                <a:solidFill>
                  <a:srgbClr val="172243"/>
                </a:solidFill>
                <a:latin typeface="Calibri"/>
              </a:rPr>
              <a:t>3  PUBLICATION</a:t>
            </a:r>
          </a:p>
          <a:p>
            <a:pPr algn="ctr">
              <a:spcAft>
                <a:spcPts val="100"/>
              </a:spcAft>
            </a:pPr>
            <a:r>
              <a:rPr sz="1600" b="0" i="0">
                <a:solidFill>
                  <a:srgbClr val="5A5F78"/>
                </a:solidFill>
                <a:latin typeface="Calibri"/>
              </a:rPr>
              <a:t>fails as</a:t>
            </a:r>
          </a:p>
          <a:p>
            <a:pPr algn="ctr">
              <a:spcAft>
                <a:spcPts val="100"/>
              </a:spcAft>
            </a:pPr>
            <a:r>
              <a:rPr sz="1600" b="1" i="0">
                <a:solidFill>
                  <a:srgbClr val="B93A32"/>
                </a:solidFill>
                <a:latin typeface="Consolas"/>
              </a:rPr>
              <a:t>BATCH_NOT_</a:t>
            </a:r>
          </a:p>
          <a:p>
            <a:pPr algn="ctr">
              <a:spcAft>
                <a:spcPts val="100"/>
              </a:spcAft>
            </a:pPr>
            <a:r>
              <a:rPr sz="1600" b="1" i="0">
                <a:solidFill>
                  <a:srgbClr val="B93A32"/>
                </a:solidFill>
                <a:latin typeface="Consolas"/>
              </a:rPr>
              <a:t>PUBLISHED</a:t>
            </a:r>
          </a:p>
        </p:txBody>
      </p:sp>
      <p:sp>
        <p:nvSpPr>
          <p:cNvPr id="33" name="Rounded Rectangle 32"/>
          <p:cNvSpPr/>
          <p:nvPr/>
        </p:nvSpPr>
        <p:spPr>
          <a:xfrm>
            <a:off x="10927080" y="6080760"/>
            <a:ext cx="2103120" cy="1828800"/>
          </a:xfrm>
          <a:prstGeom prst="roundRect">
            <a:avLst>
              <a:gd name="adj" fmla="val 10000"/>
            </a:avLst>
          </a:prstGeom>
          <a:solidFill>
            <a:srgbClr val="FFFFFF"/>
          </a:solidFill>
          <a:ln w="15875">
            <a:solidFill>
              <a:srgbClr val="7F5E87"/>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spcAft>
                <a:spcPts val="100"/>
              </a:spcAft>
            </a:pPr>
            <a:r>
              <a:rPr sz="1900" b="1" i="0">
                <a:solidFill>
                  <a:srgbClr val="172243"/>
                </a:solidFill>
                <a:latin typeface="Calibri"/>
              </a:rPr>
              <a:t>4  ROOT</a:t>
            </a:r>
          </a:p>
          <a:p>
            <a:pPr algn="ctr">
              <a:spcAft>
                <a:spcPts val="100"/>
              </a:spcAft>
            </a:pPr>
            <a:r>
              <a:rPr sz="1600" b="0" i="0">
                <a:solidFill>
                  <a:srgbClr val="5A5F78"/>
                </a:solidFill>
                <a:latin typeface="Calibri"/>
              </a:rPr>
              <a:t>fails as</a:t>
            </a:r>
          </a:p>
          <a:p>
            <a:pPr algn="ctr">
              <a:spcAft>
                <a:spcPts val="100"/>
              </a:spcAft>
            </a:pPr>
            <a:r>
              <a:rPr sz="1600" b="1" i="0">
                <a:solidFill>
                  <a:srgbClr val="B93A32"/>
                </a:solidFill>
                <a:latin typeface="Consolas"/>
              </a:rPr>
              <a:t>ROOT_</a:t>
            </a:r>
          </a:p>
          <a:p>
            <a:pPr algn="ctr">
              <a:spcAft>
                <a:spcPts val="100"/>
              </a:spcAft>
            </a:pPr>
            <a:r>
              <a:rPr sz="1600" b="1" i="0">
                <a:solidFill>
                  <a:srgbClr val="B93A32"/>
                </a:solidFill>
                <a:latin typeface="Consolas"/>
              </a:rPr>
              <a:t>MISMATCH</a:t>
            </a:r>
          </a:p>
        </p:txBody>
      </p:sp>
      <p:sp>
        <p:nvSpPr>
          <p:cNvPr id="34" name="Rounded Rectangle 33"/>
          <p:cNvSpPr/>
          <p:nvPr/>
        </p:nvSpPr>
        <p:spPr>
          <a:xfrm>
            <a:off x="13213080" y="6080760"/>
            <a:ext cx="2103120" cy="1828800"/>
          </a:xfrm>
          <a:prstGeom prst="roundRect">
            <a:avLst>
              <a:gd name="adj" fmla="val 10000"/>
            </a:avLst>
          </a:prstGeom>
          <a:solidFill>
            <a:srgbClr val="FFFFFF"/>
          </a:solidFill>
          <a:ln w="15875">
            <a:solidFill>
              <a:srgbClr val="7F5E87"/>
            </a:solidFill>
          </a:ln>
          <a:effectLst/>
        </p:spPr>
        <p:style>
          <a:lnRef idx="1">
            <a:schemeClr val="accent1"/>
          </a:lnRef>
          <a:fillRef idx="3">
            <a:schemeClr val="accent1"/>
          </a:fillRef>
          <a:effectRef idx="2">
            <a:schemeClr val="accent1"/>
          </a:effectRef>
          <a:fontRef idx="minor">
            <a:schemeClr val="lt1"/>
          </a:fontRef>
        </p:style>
        <p:txBody>
          <a:bodyPr wrap="square" lIns="54864" tIns="32918" rIns="54864" bIns="32918" rtlCol="0" anchor="ctr"/>
          <a:lstStyle/>
          <a:p>
            <a:pPr algn="ctr">
              <a:spcAft>
                <a:spcPts val="100"/>
              </a:spcAft>
            </a:pPr>
            <a:r>
              <a:rPr sz="1900" b="1" i="0">
                <a:solidFill>
                  <a:srgbClr val="172243"/>
                </a:solidFill>
                <a:latin typeface="Calibri"/>
              </a:rPr>
              <a:t>5  LEDGER</a:t>
            </a:r>
          </a:p>
          <a:p>
            <a:pPr algn="ctr">
              <a:spcAft>
                <a:spcPts val="100"/>
              </a:spcAft>
            </a:pPr>
            <a:r>
              <a:rPr sz="1600" b="0" i="0">
                <a:solidFill>
                  <a:srgbClr val="5A5F78"/>
                </a:solidFill>
                <a:latin typeface="Calibri"/>
              </a:rPr>
              <a:t>fails as</a:t>
            </a:r>
          </a:p>
          <a:p>
            <a:pPr algn="ctr">
              <a:spcAft>
                <a:spcPts val="100"/>
              </a:spcAft>
            </a:pPr>
            <a:r>
              <a:rPr sz="1600" b="1" i="0">
                <a:solidFill>
                  <a:srgbClr val="B93A32"/>
                </a:solidFill>
                <a:latin typeface="Consolas"/>
              </a:rPr>
              <a:t>LEDGER_</a:t>
            </a:r>
          </a:p>
          <a:p>
            <a:pPr algn="ctr">
              <a:spcAft>
                <a:spcPts val="100"/>
              </a:spcAft>
            </a:pPr>
            <a:r>
              <a:rPr sz="1600" b="1" i="0">
                <a:solidFill>
                  <a:srgbClr val="B93A32"/>
                </a:solidFill>
                <a:latin typeface="Consolas"/>
              </a:rPr>
              <a:t>INVALID</a:t>
            </a:r>
          </a:p>
        </p:txBody>
      </p:sp>
      <p:cxnSp>
        <p:nvCxnSpPr>
          <p:cNvPr id="35" name="Connector 34"/>
          <p:cNvCxnSpPr/>
          <p:nvPr/>
        </p:nvCxnSpPr>
        <p:spPr>
          <a:xfrm>
            <a:off x="15343632" y="6995160"/>
            <a:ext cx="402335" cy="0"/>
          </a:xfrm>
          <a:prstGeom prst="line">
            <a:avLst/>
          </a:prstGeom>
          <a:ln w="38100">
            <a:solidFill>
              <a:srgbClr val="4E4A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15773400" y="6080760"/>
            <a:ext cx="1691640" cy="1828800"/>
          </a:xfrm>
          <a:prstGeom prst="roundRect">
            <a:avLst>
              <a:gd name="adj" fmla="val 12000"/>
            </a:avLst>
          </a:prstGeom>
          <a:solidFill>
            <a:srgbClr val="DFF0E7"/>
          </a:solidFill>
          <a:ln w="15875">
            <a:solidFill>
              <a:srgbClr val="2F7D5B"/>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100"/>
              </a:spcAft>
            </a:pPr>
            <a:r>
              <a:rPr sz="2000" b="1" i="0">
                <a:solidFill>
                  <a:srgbClr val="2F7D5B"/>
                </a:solidFill>
                <a:latin typeface="Calibri"/>
              </a:rPr>
              <a:t>RESULT</a:t>
            </a:r>
          </a:p>
          <a:p>
            <a:pPr algn="ctr">
              <a:spcAft>
                <a:spcPts val="100"/>
              </a:spcAft>
            </a:pPr>
            <a:r>
              <a:rPr sz="1700" b="0" i="0">
                <a:solidFill>
                  <a:srgbClr val="262B40"/>
                </a:solidFill>
                <a:latin typeface="Calibri"/>
              </a:rPr>
              <a:t>Verified,</a:t>
            </a:r>
          </a:p>
          <a:p>
            <a:pPr algn="ctr">
              <a:spcAft>
                <a:spcPts val="100"/>
              </a:spcAft>
            </a:pPr>
            <a:r>
              <a:rPr sz="1700" b="0" i="0">
                <a:solidFill>
                  <a:srgbClr val="262B40"/>
                </a:solidFill>
                <a:latin typeface="Calibri"/>
              </a:rPr>
              <a:t>or the reason</a:t>
            </a:r>
          </a:p>
        </p:txBody>
      </p:sp>
      <p:sp>
        <p:nvSpPr>
          <p:cNvPr id="37" name="TextBox 36"/>
          <p:cNvSpPr txBox="1"/>
          <p:nvPr/>
        </p:nvSpPr>
        <p:spPr>
          <a:xfrm>
            <a:off x="1554480" y="8229600"/>
            <a:ext cx="11247120" cy="1097280"/>
          </a:xfrm>
          <a:prstGeom prst="rect">
            <a:avLst/>
          </a:prstGeom>
          <a:noFill/>
        </p:spPr>
        <p:txBody>
          <a:bodyPr wrap="square" lIns="0" tIns="0" rIns="0" bIns="0" anchor="t">
            <a:spAutoFit/>
          </a:bodyPr>
          <a:lstStyle/>
          <a:p>
            <a:pPr algn="l">
              <a:spcAft>
                <a:spcPts val="0"/>
              </a:spcAft>
            </a:pPr>
            <a:r>
              <a:rPr sz="2000" b="1" i="0">
                <a:solidFill>
                  <a:srgbClr val="172243"/>
                </a:solidFill>
                <a:latin typeface="Calibri"/>
              </a:rPr>
              <a:t>All five checks always run, and each shows the hash it computed beside the hash it expected. </a:t>
            </a:r>
            <a:r>
              <a:rPr sz="2000" b="0" i="0">
                <a:solidFill>
                  <a:srgbClr val="262B40"/>
                </a:solidFill>
                <a:latin typeface="Calibri"/>
              </a:rPr>
              <a:t>A pass means the document matches a registered reference. It does not prove authorship or that the contents are true.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5469" y="0"/>
            <a:ext cx="18288000" cy="10479517"/>
            <a:chOff x="0" y="0"/>
            <a:chExt cx="24384000" cy="13972689"/>
          </a:xfrm>
        </p:grpSpPr>
        <p:sp>
          <p:nvSpPr>
            <p:cNvPr id="4" name="Freeform 4"/>
            <p:cNvSpPr/>
            <p:nvPr/>
          </p:nvSpPr>
          <p:spPr>
            <a:xfrm>
              <a:off x="0" y="0"/>
              <a:ext cx="2333397" cy="13147537"/>
            </a:xfrm>
            <a:custGeom>
              <a:avLst/>
              <a:gdLst/>
              <a:ahLst/>
              <a:cxnLst/>
              <a:rect l="l" t="t" r="r" b="b"/>
              <a:pathLst>
                <a:path w="2333397" h="13147537">
                  <a:moveTo>
                    <a:pt x="0" y="0"/>
                  </a:moveTo>
                  <a:lnTo>
                    <a:pt x="2333397" y="0"/>
                  </a:lnTo>
                  <a:lnTo>
                    <a:pt x="2333397" y="13147537"/>
                  </a:lnTo>
                  <a:lnTo>
                    <a:pt x="0" y="13147537"/>
                  </a:lnTo>
                  <a:lnTo>
                    <a:pt x="0" y="0"/>
                  </a:lnTo>
                  <a:close/>
                </a:path>
              </a:pathLst>
            </a:custGeom>
            <a:blipFill>
              <a:blip r:embed="rId4"/>
              <a:stretch>
                <a:fillRect/>
              </a:stretch>
            </a:blipFill>
          </p:spPr>
        </p:sp>
        <p:sp>
          <p:nvSpPr>
            <p:cNvPr id="5" name="Freeform 5"/>
            <p:cNvSpPr/>
            <p:nvPr/>
          </p:nvSpPr>
          <p:spPr>
            <a:xfrm>
              <a:off x="19148440" y="8847622"/>
              <a:ext cx="2333397" cy="2303005"/>
            </a:xfrm>
            <a:custGeom>
              <a:avLst/>
              <a:gdLst/>
              <a:ahLst/>
              <a:cxnLst/>
              <a:rect l="l" t="t" r="r" b="b"/>
              <a:pathLst>
                <a:path w="2333397" h="2303005">
                  <a:moveTo>
                    <a:pt x="0" y="0"/>
                  </a:moveTo>
                  <a:lnTo>
                    <a:pt x="2333397" y="0"/>
                  </a:lnTo>
                  <a:lnTo>
                    <a:pt x="2333397" y="2303005"/>
                  </a:lnTo>
                  <a:lnTo>
                    <a:pt x="0" y="2303005"/>
                  </a:lnTo>
                  <a:lnTo>
                    <a:pt x="0" y="0"/>
                  </a:lnTo>
                  <a:close/>
                </a:path>
              </a:pathLst>
            </a:custGeom>
            <a:blipFill>
              <a:blip r:embed="rId5"/>
              <a:stretch>
                <a:fillRect/>
              </a:stretch>
            </a:blipFill>
          </p:spPr>
        </p:sp>
        <p:sp>
          <p:nvSpPr>
            <p:cNvPr id="6" name="Freeform 6"/>
            <p:cNvSpPr/>
            <p:nvPr/>
          </p:nvSpPr>
          <p:spPr>
            <a:xfrm>
              <a:off x="17412976" y="9395831"/>
              <a:ext cx="6971024" cy="4342033"/>
            </a:xfrm>
            <a:custGeom>
              <a:avLst/>
              <a:gdLst/>
              <a:ahLst/>
              <a:cxnLst/>
              <a:rect l="l" t="t" r="r" b="b"/>
              <a:pathLst>
                <a:path w="6971024" h="4342033">
                  <a:moveTo>
                    <a:pt x="0" y="0"/>
                  </a:moveTo>
                  <a:lnTo>
                    <a:pt x="6971024" y="0"/>
                  </a:lnTo>
                  <a:lnTo>
                    <a:pt x="6971024" y="4342033"/>
                  </a:lnTo>
                  <a:lnTo>
                    <a:pt x="0" y="4342033"/>
                  </a:lnTo>
                  <a:lnTo>
                    <a:pt x="0" y="0"/>
                  </a:lnTo>
                  <a:close/>
                </a:path>
              </a:pathLst>
            </a:custGeom>
            <a:blipFill>
              <a:blip r:embed="rId6"/>
              <a:stretch>
                <a:fillRect t="-5743"/>
              </a:stretch>
            </a:blipFill>
          </p:spPr>
        </p:sp>
        <p:sp>
          <p:nvSpPr>
            <p:cNvPr id="7" name="Freeform 7"/>
            <p:cNvSpPr/>
            <p:nvPr/>
          </p:nvSpPr>
          <p:spPr>
            <a:xfrm>
              <a:off x="0" y="9395831"/>
              <a:ext cx="1750048" cy="4576859"/>
            </a:xfrm>
            <a:custGeom>
              <a:avLst/>
              <a:gdLst/>
              <a:ahLst/>
              <a:cxnLst/>
              <a:rect l="l" t="t" r="r" b="b"/>
              <a:pathLst>
                <a:path w="1750048" h="4576859">
                  <a:moveTo>
                    <a:pt x="0" y="0"/>
                  </a:moveTo>
                  <a:lnTo>
                    <a:pt x="1750048" y="0"/>
                  </a:lnTo>
                  <a:lnTo>
                    <a:pt x="1750048" y="4576858"/>
                  </a:lnTo>
                  <a:lnTo>
                    <a:pt x="0" y="4576858"/>
                  </a:lnTo>
                  <a:lnTo>
                    <a:pt x="0" y="0"/>
                  </a:lnTo>
                  <a:close/>
                </a:path>
              </a:pathLst>
            </a:custGeom>
            <a:blipFill>
              <a:blip r:embed="rId7"/>
              <a:stretch>
                <a:fillRect/>
              </a:stretch>
            </a:blipFill>
          </p:spPr>
        </p:sp>
        <p:sp>
          <p:nvSpPr>
            <p:cNvPr id="8" name="Freeform 8"/>
            <p:cNvSpPr/>
            <p:nvPr/>
          </p:nvSpPr>
          <p:spPr>
            <a:xfrm>
              <a:off x="22633952" y="7273416"/>
              <a:ext cx="1750048" cy="5451418"/>
            </a:xfrm>
            <a:custGeom>
              <a:avLst/>
              <a:gdLst/>
              <a:ahLst/>
              <a:cxnLst/>
              <a:rect l="l" t="t" r="r" b="b"/>
              <a:pathLst>
                <a:path w="1750048" h="5451418">
                  <a:moveTo>
                    <a:pt x="0" y="0"/>
                  </a:moveTo>
                  <a:lnTo>
                    <a:pt x="1750048" y="0"/>
                  </a:lnTo>
                  <a:lnTo>
                    <a:pt x="1750048" y="5451417"/>
                  </a:lnTo>
                  <a:lnTo>
                    <a:pt x="0" y="5451417"/>
                  </a:lnTo>
                  <a:lnTo>
                    <a:pt x="0" y="0"/>
                  </a:lnTo>
                  <a:close/>
                </a:path>
              </a:pathLst>
            </a:custGeom>
            <a:blipFill>
              <a:blip r:embed="rId8"/>
              <a:stretch>
                <a:fillRect/>
              </a:stretch>
            </a:blipFill>
          </p:spPr>
        </p:sp>
        <p:sp>
          <p:nvSpPr>
            <p:cNvPr id="9" name="Freeform 9"/>
            <p:cNvSpPr/>
            <p:nvPr/>
          </p:nvSpPr>
          <p:spPr>
            <a:xfrm>
              <a:off x="22275922" y="9395831"/>
              <a:ext cx="1472957" cy="3162988"/>
            </a:xfrm>
            <a:custGeom>
              <a:avLst/>
              <a:gdLst/>
              <a:ahLst/>
              <a:cxnLst/>
              <a:rect l="l" t="t" r="r" b="b"/>
              <a:pathLst>
                <a:path w="1472957" h="3162988">
                  <a:moveTo>
                    <a:pt x="0" y="0"/>
                  </a:moveTo>
                  <a:lnTo>
                    <a:pt x="1472956" y="0"/>
                  </a:lnTo>
                  <a:lnTo>
                    <a:pt x="1472956" y="3162988"/>
                  </a:lnTo>
                  <a:lnTo>
                    <a:pt x="0" y="3162988"/>
                  </a:lnTo>
                  <a:lnTo>
                    <a:pt x="0" y="0"/>
                  </a:lnTo>
                  <a:close/>
                </a:path>
              </a:pathLst>
            </a:custGeom>
            <a:blipFill>
              <a:blip r:embed="rId9"/>
              <a:stretch>
                <a:fillRect/>
              </a:stretch>
            </a:blipFill>
          </p:spPr>
        </p:sp>
      </p:grpSp>
      <p:sp>
        <p:nvSpPr>
          <p:cNvPr id="10" name="TextBox 10"/>
          <p:cNvSpPr txBox="1"/>
          <p:nvPr/>
        </p:nvSpPr>
        <p:spPr>
          <a:xfrm>
            <a:off x="0" y="-57150"/>
            <a:ext cx="5986011" cy="1200150"/>
          </a:xfrm>
          <a:prstGeom prst="rect">
            <a:avLst/>
          </a:prstGeom>
        </p:spPr>
        <p:txBody>
          <a:bodyPr lIns="0" tIns="0" rIns="0" bIns="0" rtlCol="0" anchor="t">
            <a:spAutoFit/>
          </a:bodyPr>
          <a:lstStyle/>
          <a:p>
            <a:pPr algn="ctr">
              <a:lnSpc>
                <a:spcPts val="7500"/>
              </a:lnSpc>
            </a:pPr>
            <a:r>
              <a:rPr lang="en-US" sz="7500" b="1" spc="150">
                <a:solidFill>
                  <a:srgbClr val="172243"/>
                </a:solidFill>
                <a:latin typeface="Heading Now 31-38 Bold"/>
                <a:ea typeface="Heading Now 31-38 Bold"/>
                <a:cs typeface="Heading Now 31-38 Bold"/>
                <a:sym typeface="Heading Now 31-38 Bold"/>
              </a:rPr>
              <a:t>TECHNICAL APPROACH</a:t>
            </a:r>
          </a:p>
        </p:txBody>
      </p:sp>
      <p:sp>
        <p:nvSpPr>
          <p:cNvPr id="11" name="Freeform 11"/>
          <p:cNvSpPr/>
          <p:nvPr/>
        </p:nvSpPr>
        <p:spPr>
          <a:xfrm>
            <a:off x="257365" y="1028700"/>
            <a:ext cx="5020450" cy="535667"/>
          </a:xfrm>
          <a:custGeom>
            <a:avLst/>
            <a:gdLst/>
            <a:ahLst/>
            <a:cxnLst/>
            <a:rect l="l" t="t" r="r" b="b"/>
            <a:pathLst>
              <a:path w="5020450" h="535667">
                <a:moveTo>
                  <a:pt x="0" y="0"/>
                </a:moveTo>
                <a:lnTo>
                  <a:pt x="5020450" y="0"/>
                </a:lnTo>
                <a:lnTo>
                  <a:pt x="5020450" y="535667"/>
                </a:lnTo>
                <a:lnTo>
                  <a:pt x="0" y="535667"/>
                </a:lnTo>
                <a:lnTo>
                  <a:pt x="0" y="0"/>
                </a:lnTo>
                <a:close/>
              </a:path>
            </a:pathLst>
          </a:custGeom>
          <a:blipFill>
            <a:blip r:embed="rId10"/>
            <a:stretch>
              <a:fillRect l="-11250" r="-11250"/>
            </a:stretch>
          </a:blipFill>
        </p:spPr>
      </p:sp>
      <p:sp>
        <p:nvSpPr>
          <p:cNvPr id="12" name="Freeform 12"/>
          <p:cNvSpPr/>
          <p:nvPr/>
        </p:nvSpPr>
        <p:spPr>
          <a:xfrm>
            <a:off x="13923818" y="2160727"/>
            <a:ext cx="4364182" cy="2153601"/>
          </a:xfrm>
          <a:custGeom>
            <a:avLst/>
            <a:gdLst/>
            <a:ahLst/>
            <a:cxnLst/>
            <a:rect l="l" t="t" r="r" b="b"/>
            <a:pathLst>
              <a:path w="4364182" h="2153601">
                <a:moveTo>
                  <a:pt x="0" y="0"/>
                </a:moveTo>
                <a:lnTo>
                  <a:pt x="4364182" y="0"/>
                </a:lnTo>
                <a:lnTo>
                  <a:pt x="4364182" y="2153601"/>
                </a:lnTo>
                <a:lnTo>
                  <a:pt x="0" y="2153601"/>
                </a:lnTo>
                <a:lnTo>
                  <a:pt x="0" y="0"/>
                </a:lnTo>
                <a:close/>
              </a:path>
            </a:pathLst>
          </a:custGeom>
          <a:blipFill>
            <a:blip r:embed="rId11">
              <a:alphaModFix amt="68000"/>
            </a:blip>
            <a:stretch>
              <a:fillRect/>
            </a:stretch>
          </a:blipFill>
        </p:spPr>
      </p:sp>
      <p:sp>
        <p:nvSpPr>
          <p:cNvPr id="13" name="Freeform 13"/>
          <p:cNvSpPr/>
          <p:nvPr/>
        </p:nvSpPr>
        <p:spPr>
          <a:xfrm>
            <a:off x="16178937" y="216170"/>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2"/>
            <a:stretch>
              <a:fillRect/>
            </a:stretch>
          </a:blipFill>
        </p:spPr>
      </p:sp>
      <p:sp>
        <p:nvSpPr>
          <p:cNvPr id="14" name="TextBox 13"/>
          <p:cNvSpPr txBox="1"/>
          <p:nvPr/>
        </p:nvSpPr>
        <p:spPr>
          <a:xfrm>
            <a:off x="822960" y="1737360"/>
            <a:ext cx="10058400" cy="502920"/>
          </a:xfrm>
          <a:prstGeom prst="rect">
            <a:avLst/>
          </a:prstGeom>
          <a:noFill/>
        </p:spPr>
        <p:txBody>
          <a:bodyPr wrap="square" lIns="0" tIns="0" rIns="0" bIns="0" anchor="ctr">
            <a:spAutoFit/>
          </a:bodyPr>
          <a:lstStyle/>
          <a:p>
            <a:pPr algn="l">
              <a:spcAft>
                <a:spcPts val="0"/>
              </a:spcAft>
            </a:pPr>
            <a:r>
              <a:rPr sz="2300" b="1" i="0" spc="120">
                <a:solidFill>
                  <a:srgbClr val="4E4A76"/>
                </a:solidFill>
                <a:latin typeface="Heading Now 31-38 Bold"/>
              </a:rPr>
              <a:t>SYSTEM ARCHITECTURE AND TRUST BOUNDARIES</a:t>
            </a:r>
          </a:p>
        </p:txBody>
      </p:sp>
      <p:sp>
        <p:nvSpPr>
          <p:cNvPr id="15" name="Rounded Rectangle 14"/>
          <p:cNvSpPr/>
          <p:nvPr/>
        </p:nvSpPr>
        <p:spPr>
          <a:xfrm>
            <a:off x="822960" y="3063240"/>
            <a:ext cx="2240280" cy="1325880"/>
          </a:xfrm>
          <a:prstGeom prst="roundRect">
            <a:avLst>
              <a:gd name="adj" fmla="val 12000"/>
            </a:avLst>
          </a:prstGeom>
          <a:solidFill>
            <a:srgbClr val="FFFFFF"/>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100"/>
              </a:spcAft>
            </a:pPr>
            <a:r>
              <a:rPr sz="2000" b="1" i="0">
                <a:solidFill>
                  <a:srgbClr val="172243"/>
                </a:solidFill>
                <a:latin typeface="Calibri"/>
              </a:rPr>
              <a:t>CUSTODIAN</a:t>
            </a:r>
          </a:p>
          <a:p>
            <a:pPr algn="ctr">
              <a:spcAft>
                <a:spcPts val="100"/>
              </a:spcAft>
            </a:pPr>
            <a:r>
              <a:rPr sz="1700" b="0" i="0">
                <a:solidFill>
                  <a:srgbClr val="262B40"/>
                </a:solidFill>
                <a:latin typeface="Calibri"/>
              </a:rPr>
              <a:t>uploads, confirms,</a:t>
            </a:r>
          </a:p>
          <a:p>
            <a:pPr algn="ctr">
              <a:spcAft>
                <a:spcPts val="100"/>
              </a:spcAft>
            </a:pPr>
            <a:r>
              <a:rPr sz="1700" b="0" i="0">
                <a:solidFill>
                  <a:srgbClr val="262B40"/>
                </a:solidFill>
                <a:latin typeface="Calibri"/>
              </a:rPr>
              <a:t>seals a batch</a:t>
            </a:r>
          </a:p>
        </p:txBody>
      </p:sp>
      <p:sp>
        <p:nvSpPr>
          <p:cNvPr id="16" name="Rounded Rectangle 15"/>
          <p:cNvSpPr/>
          <p:nvPr/>
        </p:nvSpPr>
        <p:spPr>
          <a:xfrm>
            <a:off x="3657600" y="2331720"/>
            <a:ext cx="4114800" cy="4160520"/>
          </a:xfrm>
          <a:prstGeom prst="roundRect">
            <a:avLst>
              <a:gd name="adj" fmla="val 4000"/>
            </a:avLst>
          </a:prstGeom>
          <a:solidFill>
            <a:srgbClr val="FBE4DC">
              <a:alpha val="55000"/>
            </a:srgbClr>
          </a:solidFill>
          <a:ln w="25400">
            <a:solidFill>
              <a:srgbClr val="D9614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0" y="2377440"/>
            <a:ext cx="4114800" cy="384048"/>
          </a:xfrm>
          <a:prstGeom prst="rect">
            <a:avLst/>
          </a:prstGeom>
          <a:noFill/>
        </p:spPr>
        <p:txBody>
          <a:bodyPr wrap="square" lIns="0" tIns="0" rIns="0" bIns="0" anchor="ctr">
            <a:spAutoFit/>
          </a:bodyPr>
          <a:lstStyle/>
          <a:p>
            <a:pPr algn="ctr">
              <a:spcAft>
                <a:spcPts val="0"/>
              </a:spcAft>
            </a:pPr>
            <a:r>
              <a:rPr sz="1600" b="1" i="0">
                <a:solidFill>
                  <a:srgbClr val="B93A32"/>
                </a:solidFill>
                <a:latin typeface="Calibri"/>
              </a:rPr>
              <a:t>REGISTRY  (untrusted by the verifier)</a:t>
            </a:r>
          </a:p>
        </p:txBody>
      </p:sp>
      <p:sp>
        <p:nvSpPr>
          <p:cNvPr id="18" name="Rounded Rectangle 17"/>
          <p:cNvSpPr/>
          <p:nvPr/>
        </p:nvSpPr>
        <p:spPr>
          <a:xfrm>
            <a:off x="3840480" y="2834640"/>
            <a:ext cx="3749039" cy="1005840"/>
          </a:xfrm>
          <a:prstGeom prst="roundRect">
            <a:avLst>
              <a:gd name="adj" fmla="val 12000"/>
            </a:avLst>
          </a:prstGeom>
          <a:solidFill>
            <a:srgbClr val="FFFFFF"/>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100"/>
              </a:spcAft>
            </a:pPr>
            <a:r>
              <a:rPr sz="1800" b="1" i="0">
                <a:solidFill>
                  <a:srgbClr val="172243"/>
                </a:solidFill>
                <a:latin typeface="Calibri"/>
              </a:rPr>
              <a:t>REGISTRY SERVICE + WEB UI</a:t>
            </a:r>
          </a:p>
          <a:p>
            <a:pPr algn="ctr">
              <a:spcAft>
                <a:spcPts val="100"/>
              </a:spcAft>
            </a:pPr>
            <a:r>
              <a:rPr sz="1600" b="0" i="0">
                <a:solidFill>
                  <a:srgbClr val="262B40"/>
                </a:solidFill>
                <a:latin typeface="Calibri"/>
              </a:rPr>
              <a:t>FastAPI, Jinja2, port 8000</a:t>
            </a:r>
          </a:p>
        </p:txBody>
      </p:sp>
      <p:sp>
        <p:nvSpPr>
          <p:cNvPr id="19" name="Rounded Rectangle 18"/>
          <p:cNvSpPr/>
          <p:nvPr/>
        </p:nvSpPr>
        <p:spPr>
          <a:xfrm>
            <a:off x="3840480" y="3977639"/>
            <a:ext cx="1801368" cy="1051560"/>
          </a:xfrm>
          <a:prstGeom prst="roundRect">
            <a:avLst>
              <a:gd name="adj" fmla="val 12000"/>
            </a:avLst>
          </a:prstGeom>
          <a:solidFill>
            <a:srgbClr val="FFFFFF"/>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100"/>
              </a:spcAft>
            </a:pPr>
            <a:r>
              <a:rPr sz="1800" b="1" i="0">
                <a:solidFill>
                  <a:srgbClr val="172243"/>
                </a:solidFill>
                <a:latin typeface="Calibri"/>
              </a:rPr>
              <a:t>SQLITE</a:t>
            </a:r>
          </a:p>
          <a:p>
            <a:pPr algn="ctr">
              <a:spcAft>
                <a:spcPts val="100"/>
              </a:spcAft>
            </a:pPr>
            <a:r>
              <a:rPr sz="1600" b="0" i="0">
                <a:solidFill>
                  <a:srgbClr val="262B40"/>
                </a:solidFill>
                <a:latin typeface="Calibri"/>
              </a:rPr>
              <a:t>records, batches</a:t>
            </a:r>
          </a:p>
        </p:txBody>
      </p:sp>
      <p:sp>
        <p:nvSpPr>
          <p:cNvPr id="20" name="Rounded Rectangle 19"/>
          <p:cNvSpPr/>
          <p:nvPr/>
        </p:nvSpPr>
        <p:spPr>
          <a:xfrm>
            <a:off x="5788152" y="3977639"/>
            <a:ext cx="1801368" cy="1051560"/>
          </a:xfrm>
          <a:prstGeom prst="roundRect">
            <a:avLst>
              <a:gd name="adj" fmla="val 12000"/>
            </a:avLst>
          </a:prstGeom>
          <a:solidFill>
            <a:srgbClr val="FFFFFF"/>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100"/>
              </a:spcAft>
            </a:pPr>
            <a:r>
              <a:rPr sz="1800" b="1" i="0">
                <a:solidFill>
                  <a:srgbClr val="172243"/>
                </a:solidFill>
                <a:latin typeface="Calibri"/>
              </a:rPr>
              <a:t>AI HELPER</a:t>
            </a:r>
          </a:p>
          <a:p>
            <a:pPr algn="ctr">
              <a:spcAft>
                <a:spcPts val="100"/>
              </a:spcAft>
            </a:pPr>
            <a:r>
              <a:rPr sz="1600" b="0" i="0">
                <a:solidFill>
                  <a:srgbClr val="262B40"/>
                </a:solidFill>
                <a:latin typeface="Calibri"/>
              </a:rPr>
              <a:t>Claude API, advisory</a:t>
            </a:r>
          </a:p>
        </p:txBody>
      </p:sp>
      <p:sp>
        <p:nvSpPr>
          <p:cNvPr id="21" name="Rounded Rectangle 20"/>
          <p:cNvSpPr/>
          <p:nvPr/>
        </p:nvSpPr>
        <p:spPr>
          <a:xfrm>
            <a:off x="3840480" y="5166360"/>
            <a:ext cx="3749039" cy="1097280"/>
          </a:xfrm>
          <a:prstGeom prst="roundRect">
            <a:avLst>
              <a:gd name="adj" fmla="val 12000"/>
            </a:avLst>
          </a:prstGeom>
          <a:solidFill>
            <a:srgbClr val="FFFFFF"/>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100"/>
              </a:spcAft>
            </a:pPr>
            <a:r>
              <a:rPr sz="1800" b="1" i="0">
                <a:solidFill>
                  <a:srgbClr val="172243"/>
                </a:solidFill>
                <a:latin typeface="Calibri"/>
              </a:rPr>
              <a:t>CUSTODIAN LOGIN</a:t>
            </a:r>
          </a:p>
          <a:p>
            <a:pPr algn="ctr">
              <a:spcAft>
                <a:spcPts val="100"/>
              </a:spcAft>
            </a:pPr>
            <a:r>
              <a:rPr sz="1600" b="0" i="0">
                <a:solidFill>
                  <a:srgbClr val="262B40"/>
                </a:solidFill>
                <a:latin typeface="Calibri"/>
              </a:rPr>
              <a:t>scrypt hashes, signed session cookies</a:t>
            </a:r>
          </a:p>
        </p:txBody>
      </p:sp>
      <p:sp>
        <p:nvSpPr>
          <p:cNvPr id="22" name="Rounded Rectangle 21"/>
          <p:cNvSpPr/>
          <p:nvPr/>
        </p:nvSpPr>
        <p:spPr>
          <a:xfrm>
            <a:off x="9144000" y="2331720"/>
            <a:ext cx="2880360" cy="4160520"/>
          </a:xfrm>
          <a:prstGeom prst="roundRect">
            <a:avLst>
              <a:gd name="adj" fmla="val 5000"/>
            </a:avLst>
          </a:prstGeom>
          <a:solidFill>
            <a:srgbClr val="ECE6F4">
              <a:alpha val="70000"/>
            </a:srgbClr>
          </a:solidFill>
          <a:ln w="25400">
            <a:solidFill>
              <a:srgbClr val="7F5E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0" y="2377440"/>
            <a:ext cx="2880360" cy="384048"/>
          </a:xfrm>
          <a:prstGeom prst="rect">
            <a:avLst/>
          </a:prstGeom>
          <a:noFill/>
        </p:spPr>
        <p:txBody>
          <a:bodyPr wrap="square" lIns="0" tIns="0" rIns="0" bIns="0" anchor="ctr">
            <a:spAutoFit/>
          </a:bodyPr>
          <a:lstStyle/>
          <a:p>
            <a:pPr algn="ctr">
              <a:spcAft>
                <a:spcPts val="0"/>
              </a:spcAft>
            </a:pPr>
            <a:r>
              <a:rPr sz="1600" b="1" i="0">
                <a:solidFill>
                  <a:srgbClr val="4E4A76"/>
                </a:solidFill>
                <a:latin typeface="Calibri"/>
              </a:rPr>
              <a:t>LEDGER  (own process + key)</a:t>
            </a:r>
          </a:p>
        </p:txBody>
      </p:sp>
      <p:sp>
        <p:nvSpPr>
          <p:cNvPr id="24" name="Rounded Rectangle 23"/>
          <p:cNvSpPr/>
          <p:nvPr/>
        </p:nvSpPr>
        <p:spPr>
          <a:xfrm>
            <a:off x="9326880" y="2834640"/>
            <a:ext cx="2514600" cy="1554480"/>
          </a:xfrm>
          <a:prstGeom prst="roundRect">
            <a:avLst>
              <a:gd name="adj" fmla="val 12000"/>
            </a:avLst>
          </a:prstGeom>
          <a:solidFill>
            <a:srgbClr val="FFFFFF"/>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100"/>
              </a:spcAft>
            </a:pPr>
            <a:r>
              <a:rPr sz="1800" b="1" i="0">
                <a:solidFill>
                  <a:srgbClr val="172243"/>
                </a:solidFill>
                <a:latin typeface="Calibri"/>
              </a:rPr>
              <a:t>LEDGER SERVICE</a:t>
            </a:r>
          </a:p>
          <a:p>
            <a:pPr algn="ctr">
              <a:spcAft>
                <a:spcPts val="100"/>
              </a:spcAft>
            </a:pPr>
            <a:r>
              <a:rPr sz="1600" b="0" i="0">
                <a:solidFill>
                  <a:srgbClr val="262B40"/>
                </a:solidFill>
                <a:latin typeface="Calibri"/>
              </a:rPr>
              <a:t>FastAPI, port 8001</a:t>
            </a:r>
          </a:p>
          <a:p>
            <a:pPr algn="ctr">
              <a:spcAft>
                <a:spcPts val="100"/>
              </a:spcAft>
            </a:pPr>
            <a:r>
              <a:rPr sz="1600" b="0" i="0">
                <a:solidFill>
                  <a:srgbClr val="262B40"/>
                </a:solidFill>
                <a:latin typeface="Calibri"/>
              </a:rPr>
              <a:t>append + read only</a:t>
            </a:r>
          </a:p>
        </p:txBody>
      </p:sp>
      <p:sp>
        <p:nvSpPr>
          <p:cNvPr id="25" name="Rounded Rectangle 24"/>
          <p:cNvSpPr/>
          <p:nvPr/>
        </p:nvSpPr>
        <p:spPr>
          <a:xfrm>
            <a:off x="9326880" y="4572000"/>
            <a:ext cx="2514600" cy="1691640"/>
          </a:xfrm>
          <a:prstGeom prst="roundRect">
            <a:avLst>
              <a:gd name="adj" fmla="val 12000"/>
            </a:avLst>
          </a:prstGeom>
          <a:solidFill>
            <a:srgbClr val="FFFFFF"/>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100"/>
              </a:spcAft>
            </a:pPr>
            <a:r>
              <a:rPr sz="1800" b="1" i="0">
                <a:solidFill>
                  <a:srgbClr val="172243"/>
                </a:solidFill>
                <a:latin typeface="Calibri"/>
              </a:rPr>
              <a:t>LEDGER.JSONL</a:t>
            </a:r>
          </a:p>
          <a:p>
            <a:pPr algn="ctr">
              <a:spcAft>
                <a:spcPts val="100"/>
              </a:spcAft>
            </a:pPr>
            <a:r>
              <a:rPr sz="1600" b="0" i="0">
                <a:solidFill>
                  <a:srgbClr val="262B40"/>
                </a:solidFill>
                <a:latin typeface="Calibri"/>
              </a:rPr>
              <a:t>hash-chained entries,</a:t>
            </a:r>
          </a:p>
          <a:p>
            <a:pPr algn="ctr">
              <a:spcAft>
                <a:spcPts val="100"/>
              </a:spcAft>
            </a:pPr>
            <a:r>
              <a:rPr sz="1600" b="0" i="0">
                <a:solidFill>
                  <a:srgbClr val="262B40"/>
                </a:solidFill>
                <a:latin typeface="Calibri"/>
              </a:rPr>
              <a:t>Ed25519 signed</a:t>
            </a:r>
          </a:p>
        </p:txBody>
      </p:sp>
      <p:sp>
        <p:nvSpPr>
          <p:cNvPr id="26" name="Rounded Rectangle 25"/>
          <p:cNvSpPr/>
          <p:nvPr/>
        </p:nvSpPr>
        <p:spPr>
          <a:xfrm>
            <a:off x="1554480" y="7635240"/>
            <a:ext cx="2743200" cy="1600200"/>
          </a:xfrm>
          <a:prstGeom prst="roundRect">
            <a:avLst>
              <a:gd name="adj" fmla="val 12000"/>
            </a:avLst>
          </a:prstGeom>
          <a:solidFill>
            <a:srgbClr val="FFFFFF"/>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100"/>
              </a:spcAft>
            </a:pPr>
            <a:r>
              <a:rPr sz="2000" b="1" i="0">
                <a:solidFill>
                  <a:srgbClr val="172243"/>
                </a:solidFill>
                <a:latin typeface="Calibri"/>
              </a:rPr>
              <a:t>DOCUMENT HOLDER</a:t>
            </a:r>
          </a:p>
          <a:p>
            <a:pPr algn="ctr">
              <a:spcAft>
                <a:spcPts val="100"/>
              </a:spcAft>
            </a:pPr>
            <a:r>
              <a:rPr sz="1700" b="0" i="0">
                <a:solidFill>
                  <a:srgbClr val="262B40"/>
                </a:solidFill>
                <a:latin typeface="Calibri"/>
              </a:rPr>
              <a:t>keeps document</a:t>
            </a:r>
          </a:p>
          <a:p>
            <a:pPr algn="ctr">
              <a:spcAft>
                <a:spcPts val="100"/>
              </a:spcAft>
            </a:pPr>
            <a:r>
              <a:rPr sz="1700" b="0" i="0">
                <a:solidFill>
                  <a:srgbClr val="262B40"/>
                </a:solidFill>
                <a:latin typeface="Calibri"/>
              </a:rPr>
              <a:t>+ proof bundle</a:t>
            </a:r>
          </a:p>
        </p:txBody>
      </p:sp>
      <p:sp>
        <p:nvSpPr>
          <p:cNvPr id="27" name="Rounded Rectangle 26"/>
          <p:cNvSpPr/>
          <p:nvPr/>
        </p:nvSpPr>
        <p:spPr>
          <a:xfrm>
            <a:off x="6355080" y="7452360"/>
            <a:ext cx="4663440" cy="1920240"/>
          </a:xfrm>
          <a:prstGeom prst="roundRect">
            <a:avLst>
              <a:gd name="adj" fmla="val 12000"/>
            </a:avLst>
          </a:prstGeom>
          <a:solidFill>
            <a:srgbClr val="172243"/>
          </a:solidFill>
          <a:ln w="15875">
            <a:solidFill>
              <a:srgbClr val="172243"/>
            </a:solidFill>
          </a:ln>
          <a:effectLst/>
        </p:spPr>
        <p:style>
          <a:lnRef idx="1">
            <a:schemeClr val="accent1"/>
          </a:lnRef>
          <a:fillRef idx="3">
            <a:schemeClr val="accent1"/>
          </a:fillRef>
          <a:effectRef idx="2">
            <a:schemeClr val="accent1"/>
          </a:effectRef>
          <a:fontRef idx="minor">
            <a:schemeClr val="lt1"/>
          </a:fontRef>
        </p:style>
        <p:txBody>
          <a:bodyPr wrap="square" tIns="54864" bIns="54864" rtlCol="0" anchor="ctr"/>
          <a:lstStyle/>
          <a:p>
            <a:pPr algn="ctr">
              <a:spcAft>
                <a:spcPts val="100"/>
              </a:spcAft>
            </a:pPr>
            <a:r>
              <a:rPr sz="2000" b="1" i="0">
                <a:solidFill>
                  <a:srgbClr val="F3B9A8"/>
                </a:solidFill>
                <a:latin typeface="Calibri"/>
              </a:rPr>
              <a:t>INDEPENDENT VERIFIER</a:t>
            </a:r>
          </a:p>
          <a:p>
            <a:pPr algn="ctr">
              <a:spcAft>
                <a:spcPts val="100"/>
              </a:spcAft>
            </a:pPr>
            <a:r>
              <a:rPr sz="1600" b="0" i="0">
                <a:solidFill>
                  <a:srgbClr val="FFFFFF"/>
                </a:solidFill>
                <a:latin typeface="Calibri"/>
              </a:rPr>
              <a:t>Python CLI and static WebCrypto page</a:t>
            </a:r>
          </a:p>
          <a:p>
            <a:pPr algn="ctr">
              <a:spcAft>
                <a:spcPts val="100"/>
              </a:spcAft>
            </a:pPr>
            <a:r>
              <a:rPr sz="1600" b="0" i="0">
                <a:solidFill>
                  <a:srgbClr val="FFFFFF"/>
                </a:solidFill>
                <a:latin typeface="Calibri"/>
              </a:rPr>
              <a:t>SHA-256, Merkle fold, chain + signature check</a:t>
            </a:r>
          </a:p>
          <a:p>
            <a:pPr algn="ctr">
              <a:spcAft>
                <a:spcPts val="100"/>
              </a:spcAft>
            </a:pPr>
            <a:r>
              <a:rPr sz="1600" b="0" i="0">
                <a:solidFill>
                  <a:srgbClr val="FFFFFF"/>
                </a:solidFill>
                <a:latin typeface="Calibri"/>
              </a:rPr>
              <a:t>pinned checkpoint</a:t>
            </a:r>
          </a:p>
        </p:txBody>
      </p:sp>
      <p:cxnSp>
        <p:nvCxnSpPr>
          <p:cNvPr id="28" name="Connector 27"/>
          <p:cNvCxnSpPr/>
          <p:nvPr/>
        </p:nvCxnSpPr>
        <p:spPr>
          <a:xfrm>
            <a:off x="3063240" y="3703320"/>
            <a:ext cx="594360" cy="0"/>
          </a:xfrm>
          <a:prstGeom prst="line">
            <a:avLst/>
          </a:prstGeom>
          <a:ln w="38100">
            <a:solidFill>
              <a:srgbClr val="4E4A7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772400" y="3337560"/>
            <a:ext cx="1371600" cy="0"/>
          </a:xfrm>
          <a:prstGeom prst="line">
            <a:avLst/>
          </a:prstGeom>
          <a:ln w="38100">
            <a:solidFill>
              <a:srgbClr val="7F5E8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726679" y="2514600"/>
            <a:ext cx="1463040" cy="731520"/>
          </a:xfrm>
          <a:prstGeom prst="rect">
            <a:avLst/>
          </a:prstGeom>
          <a:noFill/>
        </p:spPr>
        <p:txBody>
          <a:bodyPr wrap="square" lIns="0" tIns="0" rIns="0" bIns="0" anchor="ctr">
            <a:spAutoFit/>
          </a:bodyPr>
          <a:lstStyle/>
          <a:p>
            <a:pPr algn="ctr">
              <a:spcAft>
                <a:spcPts val="0"/>
              </a:spcAft>
            </a:pPr>
            <a:r>
              <a:rPr sz="1600" b="1" i="0">
                <a:solidFill>
                  <a:srgbClr val="4E4A76"/>
                </a:solidFill>
                <a:latin typeface="Calibri"/>
              </a:rPr>
              <a:t>publish root
(bearer token)</a:t>
            </a:r>
          </a:p>
        </p:txBody>
      </p:sp>
      <p:cxnSp>
        <p:nvCxnSpPr>
          <p:cNvPr id="31" name="Connector 30"/>
          <p:cNvCxnSpPr/>
          <p:nvPr/>
        </p:nvCxnSpPr>
        <p:spPr>
          <a:xfrm flipH="1">
            <a:off x="3200400" y="6492240"/>
            <a:ext cx="1280160" cy="1143000"/>
          </a:xfrm>
          <a:prstGeom prst="line">
            <a:avLst/>
          </a:prstGeom>
          <a:ln w="38100">
            <a:solidFill>
              <a:srgbClr val="4E4A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463040" y="6675120"/>
            <a:ext cx="2286000" cy="640080"/>
          </a:xfrm>
          <a:prstGeom prst="rect">
            <a:avLst/>
          </a:prstGeom>
          <a:noFill/>
        </p:spPr>
        <p:txBody>
          <a:bodyPr wrap="square" lIns="0" tIns="0" rIns="0" bIns="0" anchor="ctr">
            <a:spAutoFit/>
          </a:bodyPr>
          <a:lstStyle/>
          <a:p>
            <a:pPr algn="ctr">
              <a:spcAft>
                <a:spcPts val="0"/>
              </a:spcAft>
            </a:pPr>
            <a:r>
              <a:rPr sz="1600" b="1" i="0">
                <a:solidFill>
                  <a:srgbClr val="5A5F78"/>
                </a:solidFill>
                <a:latin typeface="Calibri"/>
              </a:rPr>
              <a:t>document +
proof bundle</a:t>
            </a:r>
          </a:p>
        </p:txBody>
      </p:sp>
      <p:cxnSp>
        <p:nvCxnSpPr>
          <p:cNvPr id="33" name="Connector 32"/>
          <p:cNvCxnSpPr/>
          <p:nvPr/>
        </p:nvCxnSpPr>
        <p:spPr>
          <a:xfrm>
            <a:off x="4297680" y="8412480"/>
            <a:ext cx="2057400" cy="0"/>
          </a:xfrm>
          <a:prstGeom prst="line">
            <a:avLst/>
          </a:prstGeom>
          <a:ln w="38100">
            <a:solidFill>
              <a:srgbClr val="4E4A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297680" y="7818120"/>
            <a:ext cx="2057400" cy="502920"/>
          </a:xfrm>
          <a:prstGeom prst="rect">
            <a:avLst/>
          </a:prstGeom>
          <a:noFill/>
        </p:spPr>
        <p:txBody>
          <a:bodyPr wrap="square" lIns="0" tIns="0" rIns="0" bIns="0" anchor="ctr">
            <a:spAutoFit/>
          </a:bodyPr>
          <a:lstStyle/>
          <a:p>
            <a:pPr algn="ctr">
              <a:spcAft>
                <a:spcPts val="0"/>
              </a:spcAft>
            </a:pPr>
            <a:r>
              <a:rPr sz="1600" b="1" i="0">
                <a:solidFill>
                  <a:srgbClr val="5A5F78"/>
                </a:solidFill>
                <a:latin typeface="Calibri"/>
              </a:rPr>
              <a:t>document + proof</a:t>
            </a:r>
          </a:p>
        </p:txBody>
      </p:sp>
      <p:cxnSp>
        <p:nvCxnSpPr>
          <p:cNvPr id="35" name="Connector 34"/>
          <p:cNvCxnSpPr/>
          <p:nvPr/>
        </p:nvCxnSpPr>
        <p:spPr>
          <a:xfrm flipH="1">
            <a:off x="9692640" y="6492240"/>
            <a:ext cx="914400" cy="960120"/>
          </a:xfrm>
          <a:prstGeom prst="line">
            <a:avLst/>
          </a:prstGeom>
          <a:ln w="38100">
            <a:solidFill>
              <a:srgbClr val="7F5E8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10287000" y="6583680"/>
            <a:ext cx="2011680" cy="731520"/>
          </a:xfrm>
          <a:prstGeom prst="rect">
            <a:avLst/>
          </a:prstGeom>
          <a:noFill/>
        </p:spPr>
        <p:txBody>
          <a:bodyPr wrap="square" lIns="0" tIns="0" rIns="0" bIns="0" anchor="ctr">
            <a:spAutoFit/>
          </a:bodyPr>
          <a:lstStyle/>
          <a:p>
            <a:pPr algn="ctr">
              <a:spcAft>
                <a:spcPts val="0"/>
              </a:spcAft>
            </a:pPr>
            <a:r>
              <a:rPr sz="1600" b="1" i="0">
                <a:solidFill>
                  <a:srgbClr val="4E4A76"/>
                </a:solidFill>
                <a:latin typeface="Calibri"/>
              </a:rPr>
              <a:t>published roots
+ pinned checkpoint</a:t>
            </a:r>
          </a:p>
        </p:txBody>
      </p:sp>
      <p:cxnSp>
        <p:nvCxnSpPr>
          <p:cNvPr id="37" name="Connector 36"/>
          <p:cNvCxnSpPr/>
          <p:nvPr/>
        </p:nvCxnSpPr>
        <p:spPr>
          <a:xfrm flipH="1" flipV="1">
            <a:off x="6583680" y="6492240"/>
            <a:ext cx="640080" cy="960120"/>
          </a:xfrm>
          <a:prstGeom prst="line">
            <a:avLst/>
          </a:prstGeom>
          <a:ln w="31750">
            <a:solidFill>
              <a:srgbClr val="B93A32"/>
            </a:solidFill>
            <a:prstDash val="dash"/>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7086600" y="6629400"/>
            <a:ext cx="2103120" cy="685800"/>
          </a:xfrm>
          <a:prstGeom prst="rect">
            <a:avLst/>
          </a:prstGeom>
          <a:noFill/>
        </p:spPr>
        <p:txBody>
          <a:bodyPr wrap="square" lIns="0" tIns="0" rIns="0" bIns="0" anchor="ctr">
            <a:spAutoFit/>
          </a:bodyPr>
          <a:lstStyle/>
          <a:p>
            <a:pPr algn="ctr">
              <a:spcAft>
                <a:spcPts val="0"/>
              </a:spcAft>
            </a:pPr>
            <a:r>
              <a:rPr sz="1600" b="1" i="0">
                <a:solidFill>
                  <a:srgbClr val="B93A32"/>
                </a:solidFill>
                <a:latin typeface="Calibri"/>
              </a:rPr>
              <a:t>never reads the
registry database</a:t>
            </a:r>
          </a:p>
        </p:txBody>
      </p:sp>
      <p:sp>
        <p:nvSpPr>
          <p:cNvPr id="39" name="Rounded Rectangle 38"/>
          <p:cNvSpPr/>
          <p:nvPr/>
        </p:nvSpPr>
        <p:spPr>
          <a:xfrm>
            <a:off x="12435840" y="2514600"/>
            <a:ext cx="5029200" cy="7040880"/>
          </a:xfrm>
          <a:prstGeom prst="roundRect">
            <a:avLst>
              <a:gd name="adj" fmla="val 4000"/>
            </a:avLst>
          </a:prstGeom>
          <a:solidFill>
            <a:srgbClr val="FFFFFF">
              <a:alpha val="93000"/>
            </a:srgbClr>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2710160" y="2651760"/>
            <a:ext cx="4572000" cy="502920"/>
          </a:xfrm>
          <a:prstGeom prst="rect">
            <a:avLst/>
          </a:prstGeom>
          <a:noFill/>
        </p:spPr>
        <p:txBody>
          <a:bodyPr wrap="square" lIns="0" tIns="0" rIns="0" bIns="0" anchor="ctr">
            <a:spAutoFit/>
          </a:bodyPr>
          <a:lstStyle/>
          <a:p>
            <a:pPr algn="l">
              <a:spcAft>
                <a:spcPts val="0"/>
              </a:spcAft>
            </a:pPr>
            <a:r>
              <a:rPr sz="2600" b="1" i="0" spc="120">
                <a:solidFill>
                  <a:srgbClr val="172243"/>
                </a:solidFill>
                <a:latin typeface="Heading Now 31-38 Bold"/>
              </a:rPr>
              <a:t>TECH STACK</a:t>
            </a:r>
          </a:p>
        </p:txBody>
      </p:sp>
      <p:sp>
        <p:nvSpPr>
          <p:cNvPr id="41" name="TextBox 40"/>
          <p:cNvSpPr txBox="1"/>
          <p:nvPr/>
        </p:nvSpPr>
        <p:spPr>
          <a:xfrm>
            <a:off x="12710160" y="3291840"/>
            <a:ext cx="4526280" cy="6172200"/>
          </a:xfrm>
          <a:prstGeom prst="rect">
            <a:avLst/>
          </a:prstGeom>
          <a:noFill/>
        </p:spPr>
        <p:txBody>
          <a:bodyPr wrap="square" lIns="0" tIns="0" rIns="0" bIns="0" anchor="t">
            <a:spAutoFit/>
          </a:bodyPr>
          <a:lstStyle/>
          <a:p>
            <a:pPr algn="l">
              <a:spcAft>
                <a:spcPts val="200"/>
              </a:spcAft>
            </a:pPr>
            <a:r>
              <a:rPr sz="2100" b="1" i="0" spc="120">
                <a:solidFill>
                  <a:srgbClr val="7F5E87"/>
                </a:solidFill>
                <a:latin typeface="Heading Now 31-38 Bold"/>
              </a:rPr>
              <a:t>LANGUAGE AND SERVICES</a:t>
            </a:r>
          </a:p>
          <a:p>
            <a:pPr algn="l">
              <a:spcAft>
                <a:spcPts val="1200"/>
              </a:spcAft>
            </a:pPr>
            <a:r>
              <a:rPr sz="1900" b="0" i="0">
                <a:solidFill>
                  <a:srgbClr val="262B40"/>
                </a:solidFill>
                <a:latin typeface="Calibri"/>
              </a:rPr>
              <a:t>Python 3.11, FastAPI, Uvicorn, Jinja2, SQLite</a:t>
            </a:r>
          </a:p>
          <a:p>
            <a:pPr algn="l">
              <a:spcAft>
                <a:spcPts val="200"/>
              </a:spcAft>
            </a:pPr>
            <a:r>
              <a:rPr sz="2100" b="1" i="0" spc="120">
                <a:solidFill>
                  <a:srgbClr val="7F5E87"/>
                </a:solidFill>
                <a:latin typeface="Heading Now 31-38 Bold"/>
              </a:rPr>
              <a:t>CRYPTOGRAPHY</a:t>
            </a:r>
          </a:p>
          <a:p>
            <a:pPr algn="l">
              <a:spcAft>
                <a:spcPts val="1200"/>
              </a:spcAft>
            </a:pPr>
            <a:r>
              <a:rPr sz="1900" b="0" i="0">
                <a:solidFill>
                  <a:srgbClr val="262B40"/>
                </a:solidFill>
                <a:latin typeface="Calibri"/>
              </a:rPr>
              <a:t>SHA-256 fingerprints; salted Merkle tree with domain separation (0x00 leaf, 0x01 node, 0x02 salt); Ed25519 signatures; scrypt</a:t>
            </a:r>
          </a:p>
          <a:p>
            <a:pPr algn="l">
              <a:spcAft>
                <a:spcPts val="200"/>
              </a:spcAft>
            </a:pPr>
            <a:r>
              <a:rPr sz="2100" b="1" i="0" spc="120">
                <a:solidFill>
                  <a:srgbClr val="7F5E87"/>
                </a:solidFill>
                <a:latin typeface="Heading Now 31-38 Bold"/>
              </a:rPr>
              <a:t>VERIFICATION</a:t>
            </a:r>
          </a:p>
          <a:p>
            <a:pPr algn="l">
              <a:spcAft>
                <a:spcPts val="1200"/>
              </a:spcAft>
            </a:pPr>
            <a:r>
              <a:rPr sz="1900" b="0" i="0">
                <a:solidFill>
                  <a:srgbClr val="262B40"/>
                </a:solidFill>
                <a:latin typeface="Calibri"/>
              </a:rPr>
              <a:t>Python CLI and a static WebCrypto page; pinned ledger checkpoints</a:t>
            </a:r>
          </a:p>
          <a:p>
            <a:pPr algn="l">
              <a:spcAft>
                <a:spcPts val="200"/>
              </a:spcAft>
            </a:pPr>
            <a:r>
              <a:rPr sz="2100" b="1" i="0" spc="120">
                <a:solidFill>
                  <a:srgbClr val="7F5E87"/>
                </a:solidFill>
                <a:latin typeface="Heading Now 31-38 Bold"/>
              </a:rPr>
              <a:t>AI  (ADVISORY ONLY)</a:t>
            </a:r>
          </a:p>
          <a:p>
            <a:pPr algn="l">
              <a:spcAft>
                <a:spcPts val="1200"/>
              </a:spcAft>
            </a:pPr>
            <a:r>
              <a:rPr sz="1900" b="0" i="0">
                <a:solidFill>
                  <a:srgbClr val="262B40"/>
                </a:solidFill>
                <a:latin typeface="Calibri"/>
              </a:rPr>
              <a:t>Claude API with a rule-based fallback; human confirmation gate</a:t>
            </a:r>
          </a:p>
          <a:p>
            <a:pPr algn="l">
              <a:spcAft>
                <a:spcPts val="200"/>
              </a:spcAft>
            </a:pPr>
            <a:r>
              <a:rPr sz="2100" b="1" i="0" spc="120">
                <a:solidFill>
                  <a:srgbClr val="7F5E87"/>
                </a:solidFill>
                <a:latin typeface="Heading Now 31-38 Bold"/>
              </a:rPr>
              <a:t>TESTING</a:t>
            </a:r>
          </a:p>
          <a:p>
            <a:pPr algn="l">
              <a:spcAft>
                <a:spcPts val="1200"/>
              </a:spcAft>
            </a:pPr>
            <a:r>
              <a:rPr sz="1900" b="0" i="0">
                <a:solidFill>
                  <a:srgbClr val="262B40"/>
                </a:solidFill>
                <a:latin typeface="Calibri"/>
              </a:rPr>
              <a:t>pytest, 697 automated tests; Python and browser verifiers checked for parity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sp>
        <p:nvSpPr>
          <p:cNvPr id="3" name="Freeform 3"/>
          <p:cNvSpPr/>
          <p:nvPr/>
        </p:nvSpPr>
        <p:spPr>
          <a:xfrm>
            <a:off x="0" y="0"/>
            <a:ext cx="1750048" cy="9860652"/>
          </a:xfrm>
          <a:custGeom>
            <a:avLst/>
            <a:gdLst/>
            <a:ahLst/>
            <a:cxnLst/>
            <a:rect l="l" t="t" r="r" b="b"/>
            <a:pathLst>
              <a:path w="1750048" h="9860652">
                <a:moveTo>
                  <a:pt x="0" y="0"/>
                </a:moveTo>
                <a:lnTo>
                  <a:pt x="1750048" y="0"/>
                </a:lnTo>
                <a:lnTo>
                  <a:pt x="1750048" y="9860652"/>
                </a:lnTo>
                <a:lnTo>
                  <a:pt x="0" y="9860652"/>
                </a:lnTo>
                <a:lnTo>
                  <a:pt x="0" y="0"/>
                </a:lnTo>
                <a:close/>
              </a:path>
            </a:pathLst>
          </a:custGeom>
          <a:blipFill>
            <a:blip r:embed="rId4"/>
            <a:stretch>
              <a:fillRect/>
            </a:stretch>
          </a:blipFill>
        </p:spPr>
      </p:sp>
      <p:sp>
        <p:nvSpPr>
          <p:cNvPr id="4" name="Freeform 4"/>
          <p:cNvSpPr/>
          <p:nvPr/>
        </p:nvSpPr>
        <p:spPr>
          <a:xfrm>
            <a:off x="0" y="7046873"/>
            <a:ext cx="1312536" cy="3432644"/>
          </a:xfrm>
          <a:custGeom>
            <a:avLst/>
            <a:gdLst/>
            <a:ahLst/>
            <a:cxnLst/>
            <a:rect l="l" t="t" r="r" b="b"/>
            <a:pathLst>
              <a:path w="1312536" h="3432644">
                <a:moveTo>
                  <a:pt x="0" y="0"/>
                </a:moveTo>
                <a:lnTo>
                  <a:pt x="1312536" y="0"/>
                </a:lnTo>
                <a:lnTo>
                  <a:pt x="1312536" y="3432644"/>
                </a:lnTo>
                <a:lnTo>
                  <a:pt x="0" y="3432644"/>
                </a:lnTo>
                <a:lnTo>
                  <a:pt x="0" y="0"/>
                </a:lnTo>
                <a:close/>
              </a:path>
            </a:pathLst>
          </a:custGeom>
          <a:blipFill>
            <a:blip r:embed="rId5"/>
            <a:stretch>
              <a:fillRect/>
            </a:stretch>
          </a:blipFill>
        </p:spPr>
      </p:sp>
      <p:grpSp>
        <p:nvGrpSpPr>
          <p:cNvPr id="5" name="Group 5"/>
          <p:cNvGrpSpPr/>
          <p:nvPr/>
        </p:nvGrpSpPr>
        <p:grpSpPr>
          <a:xfrm>
            <a:off x="13059732" y="5455062"/>
            <a:ext cx="5228268" cy="4848336"/>
            <a:chOff x="0" y="0"/>
            <a:chExt cx="6971024" cy="6464448"/>
          </a:xfrm>
        </p:grpSpPr>
        <p:sp>
          <p:nvSpPr>
            <p:cNvPr id="6" name="Freeform 6"/>
            <p:cNvSpPr/>
            <p:nvPr/>
          </p:nvSpPr>
          <p:spPr>
            <a:xfrm>
              <a:off x="1735464" y="1574206"/>
              <a:ext cx="2333397" cy="2303005"/>
            </a:xfrm>
            <a:custGeom>
              <a:avLst/>
              <a:gdLst/>
              <a:ahLst/>
              <a:cxnLst/>
              <a:rect l="l" t="t" r="r" b="b"/>
              <a:pathLst>
                <a:path w="2333397" h="2303005">
                  <a:moveTo>
                    <a:pt x="0" y="0"/>
                  </a:moveTo>
                  <a:lnTo>
                    <a:pt x="2333397" y="0"/>
                  </a:lnTo>
                  <a:lnTo>
                    <a:pt x="2333397" y="2303005"/>
                  </a:lnTo>
                  <a:lnTo>
                    <a:pt x="0" y="2303005"/>
                  </a:lnTo>
                  <a:lnTo>
                    <a:pt x="0" y="0"/>
                  </a:lnTo>
                  <a:close/>
                </a:path>
              </a:pathLst>
            </a:custGeom>
            <a:blipFill>
              <a:blip r:embed="rId6"/>
              <a:stretch>
                <a:fillRect/>
              </a:stretch>
            </a:blipFill>
          </p:spPr>
        </p:sp>
        <p:sp>
          <p:nvSpPr>
            <p:cNvPr id="7" name="Freeform 7"/>
            <p:cNvSpPr/>
            <p:nvPr/>
          </p:nvSpPr>
          <p:spPr>
            <a:xfrm>
              <a:off x="0" y="2122415"/>
              <a:ext cx="6971024" cy="4342033"/>
            </a:xfrm>
            <a:custGeom>
              <a:avLst/>
              <a:gdLst/>
              <a:ahLst/>
              <a:cxnLst/>
              <a:rect l="l" t="t" r="r" b="b"/>
              <a:pathLst>
                <a:path w="6971024" h="4342033">
                  <a:moveTo>
                    <a:pt x="0" y="0"/>
                  </a:moveTo>
                  <a:lnTo>
                    <a:pt x="6971024" y="0"/>
                  </a:lnTo>
                  <a:lnTo>
                    <a:pt x="6971024" y="4342033"/>
                  </a:lnTo>
                  <a:lnTo>
                    <a:pt x="0" y="4342033"/>
                  </a:lnTo>
                  <a:lnTo>
                    <a:pt x="0" y="0"/>
                  </a:lnTo>
                  <a:close/>
                </a:path>
              </a:pathLst>
            </a:custGeom>
            <a:blipFill>
              <a:blip r:embed="rId7"/>
              <a:stretch>
                <a:fillRect t="-5743"/>
              </a:stretch>
            </a:blipFill>
          </p:spPr>
        </p:sp>
        <p:sp>
          <p:nvSpPr>
            <p:cNvPr id="8" name="Freeform 8"/>
            <p:cNvSpPr/>
            <p:nvPr/>
          </p:nvSpPr>
          <p:spPr>
            <a:xfrm>
              <a:off x="5220976" y="0"/>
              <a:ext cx="1750048" cy="5451418"/>
            </a:xfrm>
            <a:custGeom>
              <a:avLst/>
              <a:gdLst/>
              <a:ahLst/>
              <a:cxnLst/>
              <a:rect l="l" t="t" r="r" b="b"/>
              <a:pathLst>
                <a:path w="1750048" h="5451418">
                  <a:moveTo>
                    <a:pt x="0" y="0"/>
                  </a:moveTo>
                  <a:lnTo>
                    <a:pt x="1750048" y="0"/>
                  </a:lnTo>
                  <a:lnTo>
                    <a:pt x="1750048" y="5451418"/>
                  </a:lnTo>
                  <a:lnTo>
                    <a:pt x="0" y="5451418"/>
                  </a:lnTo>
                  <a:lnTo>
                    <a:pt x="0" y="0"/>
                  </a:lnTo>
                  <a:close/>
                </a:path>
              </a:pathLst>
            </a:custGeom>
            <a:blipFill>
              <a:blip r:embed="rId8"/>
              <a:stretch>
                <a:fillRect/>
              </a:stretch>
            </a:blipFill>
          </p:spPr>
        </p:sp>
        <p:sp>
          <p:nvSpPr>
            <p:cNvPr id="9" name="Freeform 9"/>
            <p:cNvSpPr/>
            <p:nvPr/>
          </p:nvSpPr>
          <p:spPr>
            <a:xfrm>
              <a:off x="4862945" y="2122415"/>
              <a:ext cx="1472957" cy="3162988"/>
            </a:xfrm>
            <a:custGeom>
              <a:avLst/>
              <a:gdLst/>
              <a:ahLst/>
              <a:cxnLst/>
              <a:rect l="l" t="t" r="r" b="b"/>
              <a:pathLst>
                <a:path w="1472957" h="3162988">
                  <a:moveTo>
                    <a:pt x="0" y="0"/>
                  </a:moveTo>
                  <a:lnTo>
                    <a:pt x="1472957" y="0"/>
                  </a:lnTo>
                  <a:lnTo>
                    <a:pt x="1472957" y="3162989"/>
                  </a:lnTo>
                  <a:lnTo>
                    <a:pt x="0" y="3162989"/>
                  </a:lnTo>
                  <a:lnTo>
                    <a:pt x="0" y="0"/>
                  </a:lnTo>
                  <a:close/>
                </a:path>
              </a:pathLst>
            </a:custGeom>
            <a:blipFill>
              <a:blip r:embed="rId9"/>
              <a:stretch>
                <a:fillRect/>
              </a:stretch>
            </a:blipFill>
          </p:spPr>
        </p:sp>
      </p:grpSp>
      <p:sp>
        <p:nvSpPr>
          <p:cNvPr id="10" name="TextBox 10"/>
          <p:cNvSpPr txBox="1"/>
          <p:nvPr/>
        </p:nvSpPr>
        <p:spPr>
          <a:xfrm>
            <a:off x="0" y="-57150"/>
            <a:ext cx="7321566" cy="1200150"/>
          </a:xfrm>
          <a:prstGeom prst="rect">
            <a:avLst/>
          </a:prstGeom>
        </p:spPr>
        <p:txBody>
          <a:bodyPr lIns="0" tIns="0" rIns="0" bIns="0" rtlCol="0" anchor="t">
            <a:spAutoFit/>
          </a:bodyPr>
          <a:lstStyle/>
          <a:p>
            <a:pPr algn="ctr">
              <a:lnSpc>
                <a:spcPts val="7500"/>
              </a:lnSpc>
            </a:pPr>
            <a:r>
              <a:rPr lang="en-US" sz="7500" b="1" spc="150">
                <a:solidFill>
                  <a:srgbClr val="172243"/>
                </a:solidFill>
                <a:latin typeface="Heading Now 31-38 Bold"/>
                <a:ea typeface="Heading Now 31-38 Bold"/>
                <a:cs typeface="Heading Now 31-38 Bold"/>
                <a:sym typeface="Heading Now 31-38 Bold"/>
              </a:rPr>
              <a:t>FEASIBILITY AND VIABILITY</a:t>
            </a:r>
          </a:p>
        </p:txBody>
      </p:sp>
      <p:sp>
        <p:nvSpPr>
          <p:cNvPr id="11" name="Freeform 11"/>
          <p:cNvSpPr/>
          <p:nvPr/>
        </p:nvSpPr>
        <p:spPr>
          <a:xfrm>
            <a:off x="334880" y="1028700"/>
            <a:ext cx="5020450" cy="535667"/>
          </a:xfrm>
          <a:custGeom>
            <a:avLst/>
            <a:gdLst/>
            <a:ahLst/>
            <a:cxnLst/>
            <a:rect l="l" t="t" r="r" b="b"/>
            <a:pathLst>
              <a:path w="5020450" h="535667">
                <a:moveTo>
                  <a:pt x="0" y="0"/>
                </a:moveTo>
                <a:lnTo>
                  <a:pt x="5020450" y="0"/>
                </a:lnTo>
                <a:lnTo>
                  <a:pt x="5020450" y="535667"/>
                </a:lnTo>
                <a:lnTo>
                  <a:pt x="0" y="535667"/>
                </a:lnTo>
                <a:lnTo>
                  <a:pt x="0" y="0"/>
                </a:lnTo>
                <a:close/>
              </a:path>
            </a:pathLst>
          </a:custGeom>
          <a:blipFill>
            <a:blip r:embed="rId10"/>
            <a:stretch>
              <a:fillRect l="-11250" r="-11250"/>
            </a:stretch>
          </a:blipFill>
        </p:spPr>
      </p:sp>
      <p:sp>
        <p:nvSpPr>
          <p:cNvPr id="12" name="Freeform 12"/>
          <p:cNvSpPr/>
          <p:nvPr/>
        </p:nvSpPr>
        <p:spPr>
          <a:xfrm>
            <a:off x="13923818" y="2160727"/>
            <a:ext cx="4364182" cy="2153601"/>
          </a:xfrm>
          <a:custGeom>
            <a:avLst/>
            <a:gdLst/>
            <a:ahLst/>
            <a:cxnLst/>
            <a:rect l="l" t="t" r="r" b="b"/>
            <a:pathLst>
              <a:path w="4364182" h="2153601">
                <a:moveTo>
                  <a:pt x="0" y="0"/>
                </a:moveTo>
                <a:lnTo>
                  <a:pt x="4364182" y="0"/>
                </a:lnTo>
                <a:lnTo>
                  <a:pt x="4364182" y="2153601"/>
                </a:lnTo>
                <a:lnTo>
                  <a:pt x="0" y="2153601"/>
                </a:lnTo>
                <a:lnTo>
                  <a:pt x="0" y="0"/>
                </a:lnTo>
                <a:close/>
              </a:path>
            </a:pathLst>
          </a:custGeom>
          <a:blipFill>
            <a:blip r:embed="rId11">
              <a:alphaModFix amt="68000"/>
            </a:blip>
            <a:stretch>
              <a:fillRect/>
            </a:stretch>
          </a:blipFill>
        </p:spPr>
      </p:sp>
      <p:sp>
        <p:nvSpPr>
          <p:cNvPr id="13" name="Freeform 13"/>
          <p:cNvSpPr/>
          <p:nvPr/>
        </p:nvSpPr>
        <p:spPr>
          <a:xfrm>
            <a:off x="16178937" y="216170"/>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2"/>
            <a:stretch>
              <a:fillRect/>
            </a:stretch>
          </a:blipFill>
        </p:spPr>
      </p:sp>
      <p:sp>
        <p:nvSpPr>
          <p:cNvPr id="14" name="Rounded Rectangle 13"/>
          <p:cNvSpPr/>
          <p:nvPr/>
        </p:nvSpPr>
        <p:spPr>
          <a:xfrm>
            <a:off x="822960" y="2423160"/>
            <a:ext cx="5349240" cy="3429000"/>
          </a:xfrm>
          <a:prstGeom prst="roundRect">
            <a:avLst>
              <a:gd name="adj" fmla="val 5000"/>
            </a:avLst>
          </a:prstGeom>
          <a:solidFill>
            <a:srgbClr val="FFFFFF">
              <a:alpha val="92000"/>
            </a:srgbClr>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7280" y="2624328"/>
            <a:ext cx="4800600" cy="502920"/>
          </a:xfrm>
          <a:prstGeom prst="rect">
            <a:avLst/>
          </a:prstGeom>
          <a:noFill/>
        </p:spPr>
        <p:txBody>
          <a:bodyPr wrap="square" lIns="0" tIns="0" rIns="0" bIns="0" anchor="ctr">
            <a:spAutoFit/>
          </a:bodyPr>
          <a:lstStyle/>
          <a:p>
            <a:pPr algn="l">
              <a:spcAft>
                <a:spcPts val="0"/>
              </a:spcAft>
            </a:pPr>
            <a:r>
              <a:rPr sz="2800" b="1" i="0" spc="120">
                <a:solidFill>
                  <a:srgbClr val="4E4A76"/>
                </a:solidFill>
                <a:latin typeface="Heading Now 31-38 Bold"/>
              </a:rPr>
              <a:t>BUILT AND WORKING</a:t>
            </a:r>
          </a:p>
        </p:txBody>
      </p:sp>
      <p:sp>
        <p:nvSpPr>
          <p:cNvPr id="16" name="TextBox 15"/>
          <p:cNvSpPr txBox="1"/>
          <p:nvPr/>
        </p:nvSpPr>
        <p:spPr>
          <a:xfrm>
            <a:off x="1097280" y="3291839"/>
            <a:ext cx="4800600" cy="2423160"/>
          </a:xfrm>
          <a:prstGeom prst="rect">
            <a:avLst/>
          </a:prstGeom>
          <a:noFill/>
        </p:spPr>
        <p:txBody>
          <a:bodyPr wrap="square" lIns="0" tIns="0" rIns="0" bIns="0" anchor="t">
            <a:spAutoFit/>
          </a:bodyPr>
          <a:lstStyle/>
          <a:p>
            <a:pPr algn="l">
              <a:spcAft>
                <a:spcPts val="1000"/>
              </a:spcAft>
            </a:pPr>
            <a:r>
              <a:rPr sz="2200" b="1" i="0">
                <a:solidFill>
                  <a:srgbClr val="D9614E"/>
                </a:solidFill>
                <a:latin typeface="Calibri"/>
              </a:rPr>
              <a:t>•  </a:t>
            </a:r>
            <a:r>
              <a:rPr sz="2200" b="0" i="0">
                <a:solidFill>
                  <a:srgbClr val="262B40"/>
                </a:solidFill>
                <a:latin typeface="Calibri"/>
              </a:rPr>
              <a:t>All six build stages run end to end: core, verifier, ledger, registry, AI helper, demo tools</a:t>
            </a:r>
          </a:p>
          <a:p>
            <a:pPr algn="l">
              <a:spcAft>
                <a:spcPts val="1000"/>
              </a:spcAft>
            </a:pPr>
            <a:r>
              <a:rPr sz="2200" b="1" i="0">
                <a:solidFill>
                  <a:srgbClr val="D9614E"/>
                </a:solidFill>
                <a:latin typeface="Calibri"/>
              </a:rPr>
              <a:t>•  </a:t>
            </a:r>
            <a:r>
              <a:rPr sz="2200" b="0" i="0">
                <a:solidFill>
                  <a:srgbClr val="262B40"/>
                </a:solidFill>
                <a:latin typeface="Calibri"/>
              </a:rPr>
              <a:t>697 automated tests pass</a:t>
            </a:r>
          </a:p>
          <a:p>
            <a:pPr algn="l">
              <a:spcAft>
                <a:spcPts val="1000"/>
              </a:spcAft>
            </a:pPr>
            <a:r>
              <a:rPr sz="2200" b="1" i="0">
                <a:solidFill>
                  <a:srgbClr val="D9614E"/>
                </a:solidFill>
                <a:latin typeface="Calibri"/>
              </a:rPr>
              <a:t>•  </a:t>
            </a:r>
            <a:r>
              <a:rPr sz="2200" b="0" i="0">
                <a:solidFill>
                  <a:srgbClr val="262B40"/>
                </a:solidFill>
                <a:latin typeface="Calibri"/>
              </a:rPr>
              <a:t>Python and browser verifiers agree on every result code</a:t>
            </a:r>
          </a:p>
        </p:txBody>
      </p:sp>
      <p:sp>
        <p:nvSpPr>
          <p:cNvPr id="17" name="Rounded Rectangle 16"/>
          <p:cNvSpPr/>
          <p:nvPr/>
        </p:nvSpPr>
        <p:spPr>
          <a:xfrm>
            <a:off x="6473952" y="2423160"/>
            <a:ext cx="5349240" cy="3429000"/>
          </a:xfrm>
          <a:prstGeom prst="roundRect">
            <a:avLst>
              <a:gd name="adj" fmla="val 5000"/>
            </a:avLst>
          </a:prstGeom>
          <a:solidFill>
            <a:srgbClr val="FFFFFF">
              <a:alpha val="92000"/>
            </a:srgbClr>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48272" y="2624328"/>
            <a:ext cx="4800600" cy="502920"/>
          </a:xfrm>
          <a:prstGeom prst="rect">
            <a:avLst/>
          </a:prstGeom>
          <a:noFill/>
        </p:spPr>
        <p:txBody>
          <a:bodyPr wrap="square" lIns="0" tIns="0" rIns="0" bIns="0" anchor="ctr">
            <a:spAutoFit/>
          </a:bodyPr>
          <a:lstStyle/>
          <a:p>
            <a:pPr algn="l">
              <a:spcAft>
                <a:spcPts val="0"/>
              </a:spcAft>
            </a:pPr>
            <a:r>
              <a:rPr sz="2800" b="1" i="0" spc="120">
                <a:solidFill>
                  <a:srgbClr val="4E4A76"/>
                </a:solidFill>
                <a:latin typeface="Heading Now 31-38 Bold"/>
              </a:rPr>
              <a:t>CHEAP TO RUN</a:t>
            </a:r>
          </a:p>
        </p:txBody>
      </p:sp>
      <p:sp>
        <p:nvSpPr>
          <p:cNvPr id="19" name="TextBox 18"/>
          <p:cNvSpPr txBox="1"/>
          <p:nvPr/>
        </p:nvSpPr>
        <p:spPr>
          <a:xfrm>
            <a:off x="6748272" y="3291839"/>
            <a:ext cx="4800600" cy="2423160"/>
          </a:xfrm>
          <a:prstGeom prst="rect">
            <a:avLst/>
          </a:prstGeom>
          <a:noFill/>
        </p:spPr>
        <p:txBody>
          <a:bodyPr wrap="square" lIns="0" tIns="0" rIns="0" bIns="0" anchor="t">
            <a:spAutoFit/>
          </a:bodyPr>
          <a:lstStyle/>
          <a:p>
            <a:pPr algn="l">
              <a:spcAft>
                <a:spcPts val="1000"/>
              </a:spcAft>
            </a:pPr>
            <a:r>
              <a:rPr sz="2200" b="1" i="0">
                <a:solidFill>
                  <a:srgbClr val="D9614E"/>
                </a:solidFill>
                <a:latin typeface="Calibri"/>
              </a:rPr>
              <a:t>•  </a:t>
            </a:r>
            <a:r>
              <a:rPr sz="2200" b="0" i="0">
                <a:solidFill>
                  <a:srgbClr val="262B40"/>
                </a:solidFill>
                <a:latin typeface="Calibri"/>
              </a:rPr>
              <a:t>Two small Python services and one SQLite file</a:t>
            </a:r>
          </a:p>
          <a:p>
            <a:pPr algn="l">
              <a:spcAft>
                <a:spcPts val="1000"/>
              </a:spcAft>
            </a:pPr>
            <a:r>
              <a:rPr sz="2200" b="1" i="0">
                <a:solidFill>
                  <a:srgbClr val="D9614E"/>
                </a:solidFill>
                <a:latin typeface="Calibri"/>
              </a:rPr>
              <a:t>•  </a:t>
            </a:r>
            <a:r>
              <a:rPr sz="2200" b="0" i="0">
                <a:solidFill>
                  <a:srgbClr val="262B40"/>
                </a:solidFill>
                <a:latin typeface="Calibri"/>
              </a:rPr>
              <a:t>No public blockchain, tokens, gas fees or node network</a:t>
            </a:r>
          </a:p>
          <a:p>
            <a:pPr algn="l">
              <a:spcAft>
                <a:spcPts val="1000"/>
              </a:spcAft>
            </a:pPr>
            <a:r>
              <a:rPr sz="2200" b="1" i="0">
                <a:solidFill>
                  <a:srgbClr val="D9614E"/>
                </a:solidFill>
                <a:latin typeface="Calibri"/>
              </a:rPr>
              <a:t>•  </a:t>
            </a:r>
            <a:r>
              <a:rPr sz="2200" b="0" i="0">
                <a:solidFill>
                  <a:srgbClr val="262B40"/>
                </a:solidFill>
                <a:latin typeface="Calibri"/>
              </a:rPr>
              <a:t>Runs on one laptop; AI is optional, with a rule-based fallback</a:t>
            </a:r>
          </a:p>
        </p:txBody>
      </p:sp>
      <p:sp>
        <p:nvSpPr>
          <p:cNvPr id="20" name="Rounded Rectangle 19"/>
          <p:cNvSpPr/>
          <p:nvPr/>
        </p:nvSpPr>
        <p:spPr>
          <a:xfrm>
            <a:off x="12124944" y="2423160"/>
            <a:ext cx="5349240" cy="3429000"/>
          </a:xfrm>
          <a:prstGeom prst="roundRect">
            <a:avLst>
              <a:gd name="adj" fmla="val 5000"/>
            </a:avLst>
          </a:prstGeom>
          <a:solidFill>
            <a:srgbClr val="FFFFFF">
              <a:alpha val="92000"/>
            </a:srgbClr>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399264" y="2624328"/>
            <a:ext cx="4800600" cy="502920"/>
          </a:xfrm>
          <a:prstGeom prst="rect">
            <a:avLst/>
          </a:prstGeom>
          <a:noFill/>
        </p:spPr>
        <p:txBody>
          <a:bodyPr wrap="square" lIns="0" tIns="0" rIns="0" bIns="0" anchor="ctr">
            <a:spAutoFit/>
          </a:bodyPr>
          <a:lstStyle/>
          <a:p>
            <a:pPr algn="l">
              <a:spcAft>
                <a:spcPts val="0"/>
              </a:spcAft>
            </a:pPr>
            <a:r>
              <a:rPr sz="2800" b="1" i="0" spc="120">
                <a:solidFill>
                  <a:srgbClr val="4E4A76"/>
                </a:solidFill>
                <a:latin typeface="Heading Now 31-38 Bold"/>
              </a:rPr>
              <a:t>PATH TO DEPLOYMENT</a:t>
            </a:r>
          </a:p>
        </p:txBody>
      </p:sp>
      <p:sp>
        <p:nvSpPr>
          <p:cNvPr id="22" name="TextBox 21"/>
          <p:cNvSpPr txBox="1"/>
          <p:nvPr/>
        </p:nvSpPr>
        <p:spPr>
          <a:xfrm>
            <a:off x="12399264" y="3291839"/>
            <a:ext cx="4800600" cy="2423160"/>
          </a:xfrm>
          <a:prstGeom prst="rect">
            <a:avLst/>
          </a:prstGeom>
          <a:noFill/>
        </p:spPr>
        <p:txBody>
          <a:bodyPr wrap="square" lIns="0" tIns="0" rIns="0" bIns="0" anchor="t">
            <a:spAutoFit/>
          </a:bodyPr>
          <a:lstStyle/>
          <a:p>
            <a:pPr algn="l">
              <a:spcAft>
                <a:spcPts val="1000"/>
              </a:spcAft>
            </a:pPr>
            <a:r>
              <a:rPr sz="2200" b="1" i="0">
                <a:solidFill>
                  <a:srgbClr val="D9614E"/>
                </a:solidFill>
                <a:latin typeface="Calibri"/>
              </a:rPr>
              <a:t>•  </a:t>
            </a:r>
            <a:r>
              <a:rPr sz="2200" b="0" i="0">
                <a:solidFill>
                  <a:srgbClr val="262B40"/>
                </a:solidFill>
                <a:latin typeface="Calibri"/>
              </a:rPr>
              <a:t>One container per service behind an HTTPS reverse proxy</a:t>
            </a:r>
          </a:p>
          <a:p>
            <a:pPr algn="l">
              <a:spcAft>
                <a:spcPts val="1000"/>
              </a:spcAft>
            </a:pPr>
            <a:r>
              <a:rPr sz="2200" b="1" i="0">
                <a:solidFill>
                  <a:srgbClr val="D9614E"/>
                </a:solidFill>
                <a:latin typeface="Calibri"/>
              </a:rPr>
              <a:t>•  </a:t>
            </a:r>
            <a:r>
              <a:rPr sz="2200" b="0" i="0">
                <a:solidFill>
                  <a:srgbClr val="262B40"/>
                </a:solidFill>
                <a:latin typeface="Calibri"/>
              </a:rPr>
              <a:t>Ledger hosted apart from the registry, with its own key</a:t>
            </a:r>
          </a:p>
          <a:p>
            <a:pPr algn="l">
              <a:spcAft>
                <a:spcPts val="1000"/>
              </a:spcAft>
            </a:pPr>
            <a:r>
              <a:rPr sz="2200" b="1" i="0">
                <a:solidFill>
                  <a:srgbClr val="D9614E"/>
                </a:solidFill>
                <a:latin typeface="Calibri"/>
              </a:rPr>
              <a:t>•  </a:t>
            </a:r>
            <a:r>
              <a:rPr sz="2200" b="0" i="0">
                <a:solidFill>
                  <a:srgbClr val="262B40"/>
                </a:solidFill>
                <a:latin typeface="Calibri"/>
              </a:rPr>
              <a:t>Custodian accounts and per-custodian batches already in place</a:t>
            </a:r>
          </a:p>
        </p:txBody>
      </p:sp>
      <p:sp>
        <p:nvSpPr>
          <p:cNvPr id="23" name="TextBox 22"/>
          <p:cNvSpPr txBox="1"/>
          <p:nvPr/>
        </p:nvSpPr>
        <p:spPr>
          <a:xfrm>
            <a:off x="822960" y="6035040"/>
            <a:ext cx="10972800" cy="502920"/>
          </a:xfrm>
          <a:prstGeom prst="rect">
            <a:avLst/>
          </a:prstGeom>
          <a:noFill/>
        </p:spPr>
        <p:txBody>
          <a:bodyPr wrap="square" lIns="0" tIns="0" rIns="0" bIns="0" anchor="ctr">
            <a:spAutoFit/>
          </a:bodyPr>
          <a:lstStyle/>
          <a:p>
            <a:pPr algn="l">
              <a:spcAft>
                <a:spcPts val="0"/>
              </a:spcAft>
            </a:pPr>
            <a:r>
              <a:rPr sz="2300" b="1" i="0" spc="120">
                <a:solidFill>
                  <a:srgbClr val="4E4A76"/>
                </a:solidFill>
                <a:latin typeface="Heading Now 31-38 Bold"/>
              </a:rPr>
              <a:t>RISKS, AND HOW EACH ONE IS HANDLED</a:t>
            </a:r>
          </a:p>
        </p:txBody>
      </p:sp>
      <p:graphicFrame>
        <p:nvGraphicFramePr>
          <p:cNvPr id="24" name="Table 23"/>
          <p:cNvGraphicFramePr>
            <a:graphicFrameLocks noGrp="1"/>
          </p:cNvGraphicFramePr>
          <p:nvPr/>
        </p:nvGraphicFramePr>
        <p:xfrm>
          <a:off x="822960" y="6629400"/>
          <a:ext cx="16642080" cy="2926080"/>
        </p:xfrm>
        <a:graphic>
          <a:graphicData uri="http://schemas.openxmlformats.org/drawingml/2006/table">
            <a:tbl>
              <a:tblPr/>
              <a:tblGrid>
                <a:gridCol w="5120640">
                  <a:extLst>
                    <a:ext uri="{9D8B030D-6E8A-4147-A177-3AD203B41FA5}">
                      <a16:colId xmlns:a16="http://schemas.microsoft.com/office/drawing/2014/main" val="20000"/>
                    </a:ext>
                  </a:extLst>
                </a:gridCol>
                <a:gridCol w="11521440">
                  <a:extLst>
                    <a:ext uri="{9D8B030D-6E8A-4147-A177-3AD203B41FA5}">
                      <a16:colId xmlns:a16="http://schemas.microsoft.com/office/drawing/2014/main" val="20001"/>
                    </a:ext>
                  </a:extLst>
                </a:gridCol>
              </a:tblGrid>
              <a:tr h="731520">
                <a:tc>
                  <a:txBody>
                    <a:bodyPr/>
                    <a:lstStyle/>
                    <a:p>
                      <a:pPr algn="l">
                        <a:spcAft>
                          <a:spcPts val="0"/>
                        </a:spcAft>
                      </a:pPr>
                      <a:r>
                        <a:rPr sz="1900" b="1" i="0">
                          <a:solidFill>
                            <a:srgbClr val="172243"/>
                          </a:solidFill>
                          <a:latin typeface="Calibri"/>
                        </a:rPr>
                        <a:t>Insider edits the registry database</a:t>
                      </a:r>
                    </a:p>
                  </a:txBody>
                  <a:tcPr marL="182880" marR="182880"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ECE6F4"/>
                    </a:solidFill>
                  </a:tcPr>
                </a:tc>
                <a:tc>
                  <a:txBody>
                    <a:bodyPr/>
                    <a:lstStyle/>
                    <a:p>
                      <a:pPr algn="l">
                        <a:spcAft>
                          <a:spcPts val="0"/>
                        </a:spcAft>
                      </a:pPr>
                      <a:r>
                        <a:rPr sz="1900" b="0" i="0">
                          <a:solidFill>
                            <a:srgbClr val="262B40"/>
                          </a:solidFill>
                          <a:latin typeface="Calibri"/>
                        </a:rPr>
                        <a:t>The verdict depends on the published root, never the database: ROOT_MISMATCH. The self-audit flags the batch.</a:t>
                      </a:r>
                    </a:p>
                  </a:txBody>
                  <a:tcPr marL="182880" marR="182880"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FFFFFF"/>
                    </a:solidFill>
                  </a:tcPr>
                </a:tc>
                <a:extLst>
                  <a:ext uri="{0D108BD9-81ED-4DB2-BD59-A6C34878D82A}">
                    <a16:rowId xmlns:a16="http://schemas.microsoft.com/office/drawing/2014/main" val="10000"/>
                  </a:ext>
                </a:extLst>
              </a:tr>
              <a:tr h="731520">
                <a:tc>
                  <a:txBody>
                    <a:bodyPr/>
                    <a:lstStyle/>
                    <a:p>
                      <a:pPr algn="l">
                        <a:spcAft>
                          <a:spcPts val="0"/>
                        </a:spcAft>
                      </a:pPr>
                      <a:r>
                        <a:rPr sz="1900" b="1" i="0">
                          <a:solidFill>
                            <a:srgbClr val="172243"/>
                          </a:solidFill>
                          <a:latin typeface="Calibri"/>
                        </a:rPr>
                        <a:t>Ledger entries altered or rewritten</a:t>
                      </a:r>
                    </a:p>
                  </a:txBody>
                  <a:tcPr marL="182880" marR="182880"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ECE6F4"/>
                    </a:solidFill>
                  </a:tcPr>
                </a:tc>
                <a:tc>
                  <a:txBody>
                    <a:bodyPr/>
                    <a:lstStyle/>
                    <a:p>
                      <a:pPr algn="l">
                        <a:spcAft>
                          <a:spcPts val="0"/>
                        </a:spcAft>
                      </a:pPr>
                      <a:r>
                        <a:rPr sz="1900" b="0" i="0">
                          <a:solidFill>
                            <a:srgbClr val="262B40"/>
                          </a:solidFill>
                          <a:latin typeface="Calibri"/>
                        </a:rPr>
                        <a:t>Hash chain and Ed25519 signatures break, and a verifier's pinned checkpoint goes missing: LEDGER_INVALID.</a:t>
                      </a:r>
                    </a:p>
                  </a:txBody>
                  <a:tcPr marL="182880" marR="182880"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FFFFFF"/>
                    </a:solidFill>
                  </a:tcPr>
                </a:tc>
                <a:extLst>
                  <a:ext uri="{0D108BD9-81ED-4DB2-BD59-A6C34878D82A}">
                    <a16:rowId xmlns:a16="http://schemas.microsoft.com/office/drawing/2014/main" val="10001"/>
                  </a:ext>
                </a:extLst>
              </a:tr>
              <a:tr h="731520">
                <a:tc>
                  <a:txBody>
                    <a:bodyPr/>
                    <a:lstStyle/>
                    <a:p>
                      <a:pPr algn="l">
                        <a:spcAft>
                          <a:spcPts val="0"/>
                        </a:spcAft>
                      </a:pPr>
                      <a:r>
                        <a:rPr sz="1900" b="1" i="0">
                          <a:solidFill>
                            <a:srgbClr val="172243"/>
                          </a:solidFill>
                          <a:latin typeface="Calibri"/>
                        </a:rPr>
                        <a:t>File re-saved or re-exported</a:t>
                      </a:r>
                    </a:p>
                  </a:txBody>
                  <a:tcPr marL="182880" marR="182880"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ECE6F4"/>
                    </a:solidFill>
                  </a:tcPr>
                </a:tc>
                <a:tc>
                  <a:txBody>
                    <a:bodyPr/>
                    <a:lstStyle/>
                    <a:p>
                      <a:pPr algn="l">
                        <a:spcAft>
                          <a:spcPts val="0"/>
                        </a:spcAft>
                      </a:pPr>
                      <a:r>
                        <a:rPr sz="1900" b="0" i="0">
                          <a:solidFill>
                            <a:srgbClr val="262B40"/>
                          </a:solidFill>
                          <a:latin typeface="Calibri"/>
                        </a:rPr>
                        <a:t>The fingerprint covers exact bytes by design. The holder keeps the file that was issued.</a:t>
                      </a:r>
                    </a:p>
                  </a:txBody>
                  <a:tcPr marL="182880" marR="182880"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FFFFFF"/>
                    </a:solidFill>
                  </a:tcPr>
                </a:tc>
                <a:extLst>
                  <a:ext uri="{0D108BD9-81ED-4DB2-BD59-A6C34878D82A}">
                    <a16:rowId xmlns:a16="http://schemas.microsoft.com/office/drawing/2014/main" val="10002"/>
                  </a:ext>
                </a:extLst>
              </a:tr>
              <a:tr h="731520">
                <a:tc>
                  <a:txBody>
                    <a:bodyPr/>
                    <a:lstStyle/>
                    <a:p>
                      <a:pPr algn="l">
                        <a:spcAft>
                          <a:spcPts val="0"/>
                        </a:spcAft>
                      </a:pPr>
                      <a:r>
                        <a:rPr sz="1900" b="1" i="0">
                          <a:solidFill>
                            <a:srgbClr val="172243"/>
                          </a:solidFill>
                          <a:latin typeface="Calibri"/>
                        </a:rPr>
                        <a:t>First-time verifier has no checkpoint</a:t>
                      </a:r>
                    </a:p>
                  </a:txBody>
                  <a:tcPr marL="182880" marR="182880"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ECE6F4"/>
                    </a:solidFill>
                  </a:tcPr>
                </a:tc>
                <a:tc>
                  <a:txBody>
                    <a:bodyPr/>
                    <a:lstStyle/>
                    <a:p>
                      <a:pPr algn="l">
                        <a:spcAft>
                          <a:spcPts val="0"/>
                        </a:spcAft>
                      </a:pPr>
                      <a:r>
                        <a:rPr sz="1900" b="0" i="0">
                          <a:solidFill>
                            <a:srgbClr val="262B40"/>
                          </a:solidFill>
                          <a:latin typeface="Calibri"/>
                        </a:rPr>
                        <a:t>An honest limit today. Witness co-signing of ledger heads is the planned next step.</a:t>
                      </a:r>
                    </a:p>
                  </a:txBody>
                  <a:tcPr marL="182880" marR="182880"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479517"/>
            <a:chOff x="0" y="0"/>
            <a:chExt cx="24384000" cy="13972689"/>
          </a:xfrm>
        </p:grpSpPr>
        <p:sp>
          <p:nvSpPr>
            <p:cNvPr id="4" name="Freeform 4"/>
            <p:cNvSpPr/>
            <p:nvPr/>
          </p:nvSpPr>
          <p:spPr>
            <a:xfrm>
              <a:off x="0" y="0"/>
              <a:ext cx="2333397" cy="13147537"/>
            </a:xfrm>
            <a:custGeom>
              <a:avLst/>
              <a:gdLst/>
              <a:ahLst/>
              <a:cxnLst/>
              <a:rect l="l" t="t" r="r" b="b"/>
              <a:pathLst>
                <a:path w="2333397" h="13147537">
                  <a:moveTo>
                    <a:pt x="0" y="0"/>
                  </a:moveTo>
                  <a:lnTo>
                    <a:pt x="2333397" y="0"/>
                  </a:lnTo>
                  <a:lnTo>
                    <a:pt x="2333397" y="13147537"/>
                  </a:lnTo>
                  <a:lnTo>
                    <a:pt x="0" y="13147537"/>
                  </a:lnTo>
                  <a:lnTo>
                    <a:pt x="0" y="0"/>
                  </a:lnTo>
                  <a:close/>
                </a:path>
              </a:pathLst>
            </a:custGeom>
            <a:blipFill>
              <a:blip r:embed="rId4"/>
              <a:stretch>
                <a:fillRect/>
              </a:stretch>
            </a:blipFill>
          </p:spPr>
        </p:sp>
        <p:sp>
          <p:nvSpPr>
            <p:cNvPr id="5" name="Freeform 5"/>
            <p:cNvSpPr/>
            <p:nvPr/>
          </p:nvSpPr>
          <p:spPr>
            <a:xfrm>
              <a:off x="19148440" y="8847622"/>
              <a:ext cx="2333397" cy="2303005"/>
            </a:xfrm>
            <a:custGeom>
              <a:avLst/>
              <a:gdLst/>
              <a:ahLst/>
              <a:cxnLst/>
              <a:rect l="l" t="t" r="r" b="b"/>
              <a:pathLst>
                <a:path w="2333397" h="2303005">
                  <a:moveTo>
                    <a:pt x="0" y="0"/>
                  </a:moveTo>
                  <a:lnTo>
                    <a:pt x="2333397" y="0"/>
                  </a:lnTo>
                  <a:lnTo>
                    <a:pt x="2333397" y="2303005"/>
                  </a:lnTo>
                  <a:lnTo>
                    <a:pt x="0" y="2303005"/>
                  </a:lnTo>
                  <a:lnTo>
                    <a:pt x="0" y="0"/>
                  </a:lnTo>
                  <a:close/>
                </a:path>
              </a:pathLst>
            </a:custGeom>
            <a:blipFill>
              <a:blip r:embed="rId5"/>
              <a:stretch>
                <a:fillRect/>
              </a:stretch>
            </a:blipFill>
          </p:spPr>
        </p:sp>
        <p:sp>
          <p:nvSpPr>
            <p:cNvPr id="6" name="Freeform 6"/>
            <p:cNvSpPr/>
            <p:nvPr/>
          </p:nvSpPr>
          <p:spPr>
            <a:xfrm>
              <a:off x="17412976" y="9395831"/>
              <a:ext cx="6971024" cy="4342033"/>
            </a:xfrm>
            <a:custGeom>
              <a:avLst/>
              <a:gdLst/>
              <a:ahLst/>
              <a:cxnLst/>
              <a:rect l="l" t="t" r="r" b="b"/>
              <a:pathLst>
                <a:path w="6971024" h="4342033">
                  <a:moveTo>
                    <a:pt x="0" y="0"/>
                  </a:moveTo>
                  <a:lnTo>
                    <a:pt x="6971024" y="0"/>
                  </a:lnTo>
                  <a:lnTo>
                    <a:pt x="6971024" y="4342033"/>
                  </a:lnTo>
                  <a:lnTo>
                    <a:pt x="0" y="4342033"/>
                  </a:lnTo>
                  <a:lnTo>
                    <a:pt x="0" y="0"/>
                  </a:lnTo>
                  <a:close/>
                </a:path>
              </a:pathLst>
            </a:custGeom>
            <a:blipFill>
              <a:blip r:embed="rId6"/>
              <a:stretch>
                <a:fillRect t="-5743"/>
              </a:stretch>
            </a:blipFill>
          </p:spPr>
        </p:sp>
        <p:sp>
          <p:nvSpPr>
            <p:cNvPr id="7" name="Freeform 7"/>
            <p:cNvSpPr/>
            <p:nvPr/>
          </p:nvSpPr>
          <p:spPr>
            <a:xfrm>
              <a:off x="0" y="9395831"/>
              <a:ext cx="1750048" cy="4576859"/>
            </a:xfrm>
            <a:custGeom>
              <a:avLst/>
              <a:gdLst/>
              <a:ahLst/>
              <a:cxnLst/>
              <a:rect l="l" t="t" r="r" b="b"/>
              <a:pathLst>
                <a:path w="1750048" h="4576859">
                  <a:moveTo>
                    <a:pt x="0" y="0"/>
                  </a:moveTo>
                  <a:lnTo>
                    <a:pt x="1750048" y="0"/>
                  </a:lnTo>
                  <a:lnTo>
                    <a:pt x="1750048" y="4576858"/>
                  </a:lnTo>
                  <a:lnTo>
                    <a:pt x="0" y="4576858"/>
                  </a:lnTo>
                  <a:lnTo>
                    <a:pt x="0" y="0"/>
                  </a:lnTo>
                  <a:close/>
                </a:path>
              </a:pathLst>
            </a:custGeom>
            <a:blipFill>
              <a:blip r:embed="rId7"/>
              <a:stretch>
                <a:fillRect/>
              </a:stretch>
            </a:blipFill>
          </p:spPr>
        </p:sp>
        <p:sp>
          <p:nvSpPr>
            <p:cNvPr id="8" name="Freeform 8"/>
            <p:cNvSpPr/>
            <p:nvPr/>
          </p:nvSpPr>
          <p:spPr>
            <a:xfrm>
              <a:off x="22633952" y="7273416"/>
              <a:ext cx="1750048" cy="5451418"/>
            </a:xfrm>
            <a:custGeom>
              <a:avLst/>
              <a:gdLst/>
              <a:ahLst/>
              <a:cxnLst/>
              <a:rect l="l" t="t" r="r" b="b"/>
              <a:pathLst>
                <a:path w="1750048" h="5451418">
                  <a:moveTo>
                    <a:pt x="0" y="0"/>
                  </a:moveTo>
                  <a:lnTo>
                    <a:pt x="1750048" y="0"/>
                  </a:lnTo>
                  <a:lnTo>
                    <a:pt x="1750048" y="5451417"/>
                  </a:lnTo>
                  <a:lnTo>
                    <a:pt x="0" y="5451417"/>
                  </a:lnTo>
                  <a:lnTo>
                    <a:pt x="0" y="0"/>
                  </a:lnTo>
                  <a:close/>
                </a:path>
              </a:pathLst>
            </a:custGeom>
            <a:blipFill>
              <a:blip r:embed="rId8"/>
              <a:stretch>
                <a:fillRect/>
              </a:stretch>
            </a:blipFill>
          </p:spPr>
        </p:sp>
        <p:sp>
          <p:nvSpPr>
            <p:cNvPr id="9" name="Freeform 9"/>
            <p:cNvSpPr/>
            <p:nvPr/>
          </p:nvSpPr>
          <p:spPr>
            <a:xfrm>
              <a:off x="22275922" y="9395831"/>
              <a:ext cx="1472957" cy="3162988"/>
            </a:xfrm>
            <a:custGeom>
              <a:avLst/>
              <a:gdLst/>
              <a:ahLst/>
              <a:cxnLst/>
              <a:rect l="l" t="t" r="r" b="b"/>
              <a:pathLst>
                <a:path w="1472957" h="3162988">
                  <a:moveTo>
                    <a:pt x="0" y="0"/>
                  </a:moveTo>
                  <a:lnTo>
                    <a:pt x="1472956" y="0"/>
                  </a:lnTo>
                  <a:lnTo>
                    <a:pt x="1472956" y="3162988"/>
                  </a:lnTo>
                  <a:lnTo>
                    <a:pt x="0" y="3162988"/>
                  </a:lnTo>
                  <a:lnTo>
                    <a:pt x="0" y="0"/>
                  </a:lnTo>
                  <a:close/>
                </a:path>
              </a:pathLst>
            </a:custGeom>
            <a:blipFill>
              <a:blip r:embed="rId9"/>
              <a:stretch>
                <a:fillRect/>
              </a:stretch>
            </a:blipFill>
          </p:spPr>
        </p:sp>
      </p:grpSp>
      <p:sp>
        <p:nvSpPr>
          <p:cNvPr id="10" name="TextBox 10"/>
          <p:cNvSpPr txBox="1"/>
          <p:nvPr/>
        </p:nvSpPr>
        <p:spPr>
          <a:xfrm>
            <a:off x="-529376" y="-57150"/>
            <a:ext cx="7321566" cy="1200150"/>
          </a:xfrm>
          <a:prstGeom prst="rect">
            <a:avLst/>
          </a:prstGeom>
        </p:spPr>
        <p:txBody>
          <a:bodyPr lIns="0" tIns="0" rIns="0" bIns="0" rtlCol="0" anchor="t">
            <a:spAutoFit/>
          </a:bodyPr>
          <a:lstStyle/>
          <a:p>
            <a:pPr algn="ctr">
              <a:lnSpc>
                <a:spcPts val="7500"/>
              </a:lnSpc>
            </a:pPr>
            <a:r>
              <a:rPr lang="en-US" sz="7500" b="1" spc="150">
                <a:solidFill>
                  <a:srgbClr val="172243"/>
                </a:solidFill>
                <a:latin typeface="Heading Now 31-38 Bold"/>
                <a:ea typeface="Heading Now 31-38 Bold"/>
                <a:cs typeface="Heading Now 31-38 Bold"/>
                <a:sym typeface="Heading Now 31-38 Bold"/>
              </a:rPr>
              <a:t>IMPACT AND BENEFITS</a:t>
            </a:r>
          </a:p>
        </p:txBody>
      </p:sp>
      <p:sp>
        <p:nvSpPr>
          <p:cNvPr id="11" name="Freeform 11"/>
          <p:cNvSpPr/>
          <p:nvPr/>
        </p:nvSpPr>
        <p:spPr>
          <a:xfrm>
            <a:off x="355509" y="1028700"/>
            <a:ext cx="5020450" cy="535667"/>
          </a:xfrm>
          <a:custGeom>
            <a:avLst/>
            <a:gdLst/>
            <a:ahLst/>
            <a:cxnLst/>
            <a:rect l="l" t="t" r="r" b="b"/>
            <a:pathLst>
              <a:path w="5020450" h="535667">
                <a:moveTo>
                  <a:pt x="0" y="0"/>
                </a:moveTo>
                <a:lnTo>
                  <a:pt x="5020449" y="0"/>
                </a:lnTo>
                <a:lnTo>
                  <a:pt x="5020449" y="535667"/>
                </a:lnTo>
                <a:lnTo>
                  <a:pt x="0" y="535667"/>
                </a:lnTo>
                <a:lnTo>
                  <a:pt x="0" y="0"/>
                </a:lnTo>
                <a:close/>
              </a:path>
            </a:pathLst>
          </a:custGeom>
          <a:blipFill>
            <a:blip r:embed="rId10"/>
            <a:stretch>
              <a:fillRect l="-11250" r="-11250"/>
            </a:stretch>
          </a:blipFill>
        </p:spPr>
      </p:sp>
      <p:sp>
        <p:nvSpPr>
          <p:cNvPr id="12" name="Freeform 12"/>
          <p:cNvSpPr/>
          <p:nvPr/>
        </p:nvSpPr>
        <p:spPr>
          <a:xfrm>
            <a:off x="13923818" y="2160727"/>
            <a:ext cx="4364182" cy="2153601"/>
          </a:xfrm>
          <a:custGeom>
            <a:avLst/>
            <a:gdLst/>
            <a:ahLst/>
            <a:cxnLst/>
            <a:rect l="l" t="t" r="r" b="b"/>
            <a:pathLst>
              <a:path w="4364182" h="2153601">
                <a:moveTo>
                  <a:pt x="0" y="0"/>
                </a:moveTo>
                <a:lnTo>
                  <a:pt x="4364182" y="0"/>
                </a:lnTo>
                <a:lnTo>
                  <a:pt x="4364182" y="2153601"/>
                </a:lnTo>
                <a:lnTo>
                  <a:pt x="0" y="2153601"/>
                </a:lnTo>
                <a:lnTo>
                  <a:pt x="0" y="0"/>
                </a:lnTo>
                <a:close/>
              </a:path>
            </a:pathLst>
          </a:custGeom>
          <a:blipFill>
            <a:blip r:embed="rId11">
              <a:alphaModFix amt="68000"/>
            </a:blip>
            <a:stretch>
              <a:fillRect/>
            </a:stretch>
          </a:blipFill>
        </p:spPr>
      </p:sp>
      <p:sp>
        <p:nvSpPr>
          <p:cNvPr id="13" name="Freeform 13"/>
          <p:cNvSpPr/>
          <p:nvPr/>
        </p:nvSpPr>
        <p:spPr>
          <a:xfrm>
            <a:off x="16178937" y="216170"/>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2"/>
            <a:stretch>
              <a:fillRect/>
            </a:stretch>
          </a:blipFill>
        </p:spPr>
      </p:sp>
      <p:sp>
        <p:nvSpPr>
          <p:cNvPr id="14" name="Rounded Rectangle 13"/>
          <p:cNvSpPr/>
          <p:nvPr/>
        </p:nvSpPr>
        <p:spPr>
          <a:xfrm>
            <a:off x="822960" y="2423160"/>
            <a:ext cx="5349240" cy="2103120"/>
          </a:xfrm>
          <a:prstGeom prst="roundRect">
            <a:avLst>
              <a:gd name="adj" fmla="val 6000"/>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7280" y="2468880"/>
            <a:ext cx="2011680" cy="2011680"/>
          </a:xfrm>
          <a:prstGeom prst="rect">
            <a:avLst/>
          </a:prstGeom>
          <a:noFill/>
        </p:spPr>
        <p:txBody>
          <a:bodyPr wrap="square" lIns="0" tIns="0" rIns="0" bIns="0" anchor="ctr">
            <a:spAutoFit/>
          </a:bodyPr>
          <a:lstStyle/>
          <a:p>
            <a:pPr algn="ctr">
              <a:spcAft>
                <a:spcPts val="0"/>
              </a:spcAft>
            </a:pPr>
            <a:r>
              <a:rPr sz="8800" b="1" i="0" spc="120">
                <a:solidFill>
                  <a:srgbClr val="F3B9A8"/>
                </a:solidFill>
                <a:latin typeface="Heading Now 31-38 Bold"/>
              </a:rPr>
              <a:t>0</a:t>
            </a:r>
          </a:p>
        </p:txBody>
      </p:sp>
      <p:sp>
        <p:nvSpPr>
          <p:cNvPr id="16" name="TextBox 15"/>
          <p:cNvSpPr txBox="1"/>
          <p:nvPr/>
        </p:nvSpPr>
        <p:spPr>
          <a:xfrm>
            <a:off x="3154679" y="2468880"/>
            <a:ext cx="2788920" cy="2011680"/>
          </a:xfrm>
          <a:prstGeom prst="rect">
            <a:avLst/>
          </a:prstGeom>
          <a:noFill/>
        </p:spPr>
        <p:txBody>
          <a:bodyPr wrap="square" lIns="0" tIns="0" rIns="0" bIns="0" anchor="ctr">
            <a:spAutoFit/>
          </a:bodyPr>
          <a:lstStyle/>
          <a:p>
            <a:pPr algn="l">
              <a:spcAft>
                <a:spcPts val="0"/>
              </a:spcAft>
            </a:pPr>
            <a:r>
              <a:rPr sz="2300" b="0" i="0">
                <a:solidFill>
                  <a:srgbClr val="FFFFFF"/>
                </a:solidFill>
                <a:latin typeface="Calibri"/>
              </a:rPr>
              <a:t>accounts needed to verify a document</a:t>
            </a:r>
          </a:p>
        </p:txBody>
      </p:sp>
      <p:sp>
        <p:nvSpPr>
          <p:cNvPr id="17" name="Rounded Rectangle 16"/>
          <p:cNvSpPr/>
          <p:nvPr/>
        </p:nvSpPr>
        <p:spPr>
          <a:xfrm>
            <a:off x="6473952" y="2423160"/>
            <a:ext cx="5349240" cy="2103120"/>
          </a:xfrm>
          <a:prstGeom prst="roundRect">
            <a:avLst>
              <a:gd name="adj" fmla="val 6000"/>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48272" y="2468880"/>
            <a:ext cx="2011680" cy="2011680"/>
          </a:xfrm>
          <a:prstGeom prst="rect">
            <a:avLst/>
          </a:prstGeom>
          <a:noFill/>
        </p:spPr>
        <p:txBody>
          <a:bodyPr wrap="square" lIns="0" tIns="0" rIns="0" bIns="0" anchor="ctr">
            <a:spAutoFit/>
          </a:bodyPr>
          <a:lstStyle/>
          <a:p>
            <a:pPr algn="ctr">
              <a:spcAft>
                <a:spcPts val="0"/>
              </a:spcAft>
            </a:pPr>
            <a:r>
              <a:rPr sz="8800" b="1" i="0" spc="120">
                <a:solidFill>
                  <a:srgbClr val="F3B9A8"/>
                </a:solidFill>
                <a:latin typeface="Heading Now 31-38 Bold"/>
              </a:rPr>
              <a:t>5</a:t>
            </a:r>
          </a:p>
        </p:txBody>
      </p:sp>
      <p:sp>
        <p:nvSpPr>
          <p:cNvPr id="19" name="TextBox 18"/>
          <p:cNvSpPr txBox="1"/>
          <p:nvPr/>
        </p:nvSpPr>
        <p:spPr>
          <a:xfrm>
            <a:off x="8805672" y="2468880"/>
            <a:ext cx="2788920" cy="2011680"/>
          </a:xfrm>
          <a:prstGeom prst="rect">
            <a:avLst/>
          </a:prstGeom>
          <a:noFill/>
        </p:spPr>
        <p:txBody>
          <a:bodyPr wrap="square" lIns="0" tIns="0" rIns="0" bIns="0" anchor="ctr">
            <a:spAutoFit/>
          </a:bodyPr>
          <a:lstStyle/>
          <a:p>
            <a:pPr algn="l">
              <a:spcAft>
                <a:spcPts val="0"/>
              </a:spcAft>
            </a:pPr>
            <a:r>
              <a:rPr sz="2300" b="0" i="0">
                <a:solidFill>
                  <a:srgbClr val="FFFFFF"/>
                </a:solidFill>
                <a:latin typeface="Calibri"/>
              </a:rPr>
              <a:t>named reasons when a check fails</a:t>
            </a:r>
          </a:p>
        </p:txBody>
      </p:sp>
      <p:sp>
        <p:nvSpPr>
          <p:cNvPr id="20" name="Rounded Rectangle 19"/>
          <p:cNvSpPr/>
          <p:nvPr/>
        </p:nvSpPr>
        <p:spPr>
          <a:xfrm>
            <a:off x="12124944" y="2423160"/>
            <a:ext cx="5349240" cy="2103120"/>
          </a:xfrm>
          <a:prstGeom prst="roundRect">
            <a:avLst>
              <a:gd name="adj" fmla="val 6000"/>
            </a:avLst>
          </a:prstGeom>
          <a:solidFill>
            <a:srgbClr val="1722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399264" y="2468880"/>
            <a:ext cx="2011680" cy="2011680"/>
          </a:xfrm>
          <a:prstGeom prst="rect">
            <a:avLst/>
          </a:prstGeom>
          <a:noFill/>
        </p:spPr>
        <p:txBody>
          <a:bodyPr wrap="square" lIns="0" tIns="0" rIns="0" bIns="0" anchor="ctr">
            <a:spAutoFit/>
          </a:bodyPr>
          <a:lstStyle/>
          <a:p>
            <a:pPr algn="ctr">
              <a:spcAft>
                <a:spcPts val="0"/>
              </a:spcAft>
            </a:pPr>
            <a:r>
              <a:rPr sz="8800" b="1" i="0" spc="120">
                <a:solidFill>
                  <a:srgbClr val="F3B9A8"/>
                </a:solidFill>
                <a:latin typeface="Heading Now 31-38 Bold"/>
              </a:rPr>
              <a:t>~10</a:t>
            </a:r>
          </a:p>
        </p:txBody>
      </p:sp>
      <p:sp>
        <p:nvSpPr>
          <p:cNvPr id="22" name="TextBox 21"/>
          <p:cNvSpPr txBox="1"/>
          <p:nvPr/>
        </p:nvSpPr>
        <p:spPr>
          <a:xfrm>
            <a:off x="14456663" y="2468880"/>
            <a:ext cx="2788920" cy="2011680"/>
          </a:xfrm>
          <a:prstGeom prst="rect">
            <a:avLst/>
          </a:prstGeom>
          <a:noFill/>
        </p:spPr>
        <p:txBody>
          <a:bodyPr wrap="square" lIns="0" tIns="0" rIns="0" bIns="0" anchor="ctr">
            <a:spAutoFit/>
          </a:bodyPr>
          <a:lstStyle/>
          <a:p>
            <a:pPr algn="l">
              <a:spcAft>
                <a:spcPts val="0"/>
              </a:spcAft>
            </a:pPr>
            <a:r>
              <a:rPr sz="2300" b="0" i="0">
                <a:solidFill>
                  <a:srgbClr val="FFFFFF"/>
                </a:solidFill>
                <a:latin typeface="Calibri"/>
              </a:rPr>
              <a:t>hashes prove one record among 1,000</a:t>
            </a:r>
          </a:p>
        </p:txBody>
      </p:sp>
      <p:sp>
        <p:nvSpPr>
          <p:cNvPr id="23" name="Rounded Rectangle 22"/>
          <p:cNvSpPr/>
          <p:nvPr/>
        </p:nvSpPr>
        <p:spPr>
          <a:xfrm>
            <a:off x="822960" y="4800600"/>
            <a:ext cx="5349240" cy="3611880"/>
          </a:xfrm>
          <a:prstGeom prst="roundRect">
            <a:avLst>
              <a:gd name="adj" fmla="val 5000"/>
            </a:avLst>
          </a:prstGeom>
          <a:solidFill>
            <a:srgbClr val="FFFFFF">
              <a:alpha val="94000"/>
            </a:srgbClr>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97280" y="5001768"/>
            <a:ext cx="4800600" cy="502920"/>
          </a:xfrm>
          <a:prstGeom prst="rect">
            <a:avLst/>
          </a:prstGeom>
          <a:noFill/>
        </p:spPr>
        <p:txBody>
          <a:bodyPr wrap="square" lIns="0" tIns="0" rIns="0" bIns="0" anchor="ctr">
            <a:spAutoFit/>
          </a:bodyPr>
          <a:lstStyle/>
          <a:p>
            <a:pPr algn="l">
              <a:spcAft>
                <a:spcPts val="0"/>
              </a:spcAft>
            </a:pPr>
            <a:r>
              <a:rPr sz="2800" b="1" i="0" spc="120">
                <a:solidFill>
                  <a:srgbClr val="4E4A76"/>
                </a:solidFill>
                <a:latin typeface="Heading Now 31-38 Bold"/>
              </a:rPr>
              <a:t>ISSUERS AND CUSTODIANS</a:t>
            </a:r>
          </a:p>
        </p:txBody>
      </p:sp>
      <p:sp>
        <p:nvSpPr>
          <p:cNvPr id="25" name="TextBox 24"/>
          <p:cNvSpPr txBox="1"/>
          <p:nvPr/>
        </p:nvSpPr>
        <p:spPr>
          <a:xfrm>
            <a:off x="1097280" y="5669280"/>
            <a:ext cx="4800600" cy="2606040"/>
          </a:xfrm>
          <a:prstGeom prst="rect">
            <a:avLst/>
          </a:prstGeom>
          <a:noFill/>
        </p:spPr>
        <p:txBody>
          <a:bodyPr wrap="square" lIns="0" tIns="0" rIns="0" bIns="0" anchor="t">
            <a:spAutoFit/>
          </a:bodyPr>
          <a:lstStyle/>
          <a:p>
            <a:pPr algn="l">
              <a:spcAft>
                <a:spcPts val="1000"/>
              </a:spcAft>
            </a:pPr>
            <a:r>
              <a:rPr sz="2100" b="1" i="0">
                <a:solidFill>
                  <a:srgbClr val="D9614E"/>
                </a:solidFill>
                <a:latin typeface="Calibri"/>
              </a:rPr>
              <a:t>•  </a:t>
            </a:r>
            <a:r>
              <a:rPr sz="2100" b="0" i="0">
                <a:solidFill>
                  <a:srgbClr val="262B40"/>
                </a:solidFill>
                <a:latin typeface="Calibri"/>
              </a:rPr>
              <a:t>Records become tamper-evident without changing how documents are issued</a:t>
            </a:r>
          </a:p>
          <a:p>
            <a:pPr algn="l">
              <a:spcAft>
                <a:spcPts val="1000"/>
              </a:spcAft>
            </a:pPr>
            <a:r>
              <a:rPr sz="2100" b="1" i="0">
                <a:solidFill>
                  <a:srgbClr val="D9614E"/>
                </a:solidFill>
                <a:latin typeface="Calibri"/>
              </a:rPr>
              <a:t>•  </a:t>
            </a:r>
            <a:r>
              <a:rPr sz="2100" b="0" i="0">
                <a:solidFill>
                  <a:srgbClr val="262B40"/>
                </a:solidFill>
                <a:latin typeface="Calibri"/>
              </a:rPr>
              <a:t>Self-audit shows when stored data drifts from what was published</a:t>
            </a:r>
          </a:p>
          <a:p>
            <a:pPr algn="l">
              <a:spcAft>
                <a:spcPts val="1000"/>
              </a:spcAft>
            </a:pPr>
            <a:r>
              <a:rPr sz="2100" b="1" i="0">
                <a:solidFill>
                  <a:srgbClr val="D9614E"/>
                </a:solidFill>
                <a:latin typeface="Calibri"/>
              </a:rPr>
              <a:t>•  </a:t>
            </a:r>
            <a:r>
              <a:rPr sz="2100" b="0" i="0">
                <a:solidFill>
                  <a:srgbClr val="262B40"/>
                </a:solidFill>
                <a:latin typeface="Calibri"/>
              </a:rPr>
              <a:t>Every confirmation names the custodian who made it</a:t>
            </a:r>
          </a:p>
        </p:txBody>
      </p:sp>
      <p:sp>
        <p:nvSpPr>
          <p:cNvPr id="26" name="Rounded Rectangle 25"/>
          <p:cNvSpPr/>
          <p:nvPr/>
        </p:nvSpPr>
        <p:spPr>
          <a:xfrm>
            <a:off x="6473952" y="4800600"/>
            <a:ext cx="5349240" cy="3611880"/>
          </a:xfrm>
          <a:prstGeom prst="roundRect">
            <a:avLst>
              <a:gd name="adj" fmla="val 5000"/>
            </a:avLst>
          </a:prstGeom>
          <a:solidFill>
            <a:srgbClr val="FFFFFF">
              <a:alpha val="94000"/>
            </a:srgbClr>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48272" y="5001768"/>
            <a:ext cx="4800600" cy="502920"/>
          </a:xfrm>
          <a:prstGeom prst="rect">
            <a:avLst/>
          </a:prstGeom>
          <a:noFill/>
        </p:spPr>
        <p:txBody>
          <a:bodyPr wrap="square" lIns="0" tIns="0" rIns="0" bIns="0" anchor="ctr">
            <a:spAutoFit/>
          </a:bodyPr>
          <a:lstStyle/>
          <a:p>
            <a:pPr algn="l">
              <a:spcAft>
                <a:spcPts val="0"/>
              </a:spcAft>
            </a:pPr>
            <a:r>
              <a:rPr sz="2800" b="1" i="0" spc="120">
                <a:solidFill>
                  <a:srgbClr val="4E4A76"/>
                </a:solidFill>
                <a:latin typeface="Heading Now 31-38 Bold"/>
              </a:rPr>
              <a:t>DOCUMENT HOLDERS</a:t>
            </a:r>
          </a:p>
        </p:txBody>
      </p:sp>
      <p:sp>
        <p:nvSpPr>
          <p:cNvPr id="28" name="TextBox 27"/>
          <p:cNvSpPr txBox="1"/>
          <p:nvPr/>
        </p:nvSpPr>
        <p:spPr>
          <a:xfrm>
            <a:off x="6748272" y="5669280"/>
            <a:ext cx="4800600" cy="2606040"/>
          </a:xfrm>
          <a:prstGeom prst="rect">
            <a:avLst/>
          </a:prstGeom>
          <a:noFill/>
        </p:spPr>
        <p:txBody>
          <a:bodyPr wrap="square" lIns="0" tIns="0" rIns="0" bIns="0" anchor="t">
            <a:spAutoFit/>
          </a:bodyPr>
          <a:lstStyle/>
          <a:p>
            <a:pPr algn="l">
              <a:spcAft>
                <a:spcPts val="1000"/>
              </a:spcAft>
            </a:pPr>
            <a:r>
              <a:rPr sz="2100" b="1" i="0">
                <a:solidFill>
                  <a:srgbClr val="D9614E"/>
                </a:solidFill>
                <a:latin typeface="Calibri"/>
              </a:rPr>
              <a:t>•  </a:t>
            </a:r>
            <a:r>
              <a:rPr sz="2100" b="0" i="0">
                <a:solidFill>
                  <a:srgbClr val="262B40"/>
                </a:solidFill>
                <a:latin typeface="Calibri"/>
              </a:rPr>
              <a:t>Carry the document and one small proof file</a:t>
            </a:r>
          </a:p>
          <a:p>
            <a:pPr algn="l">
              <a:spcAft>
                <a:spcPts val="1000"/>
              </a:spcAft>
            </a:pPr>
            <a:r>
              <a:rPr sz="2100" b="1" i="0">
                <a:solidFill>
                  <a:srgbClr val="D9614E"/>
                </a:solidFill>
                <a:latin typeface="Calibri"/>
              </a:rPr>
              <a:t>•  </a:t>
            </a:r>
            <a:r>
              <a:rPr sz="2100" b="0" i="0">
                <a:solidFill>
                  <a:srgbClr val="262B40"/>
                </a:solidFill>
                <a:latin typeface="Calibri"/>
              </a:rPr>
              <a:t>Salted leaves: a proof reveals nothing about anyone else's record</a:t>
            </a:r>
          </a:p>
          <a:p>
            <a:pPr algn="l">
              <a:spcAft>
                <a:spcPts val="1000"/>
              </a:spcAft>
            </a:pPr>
            <a:r>
              <a:rPr sz="2100" b="1" i="0">
                <a:solidFill>
                  <a:srgbClr val="D9614E"/>
                </a:solidFill>
                <a:latin typeface="Calibri"/>
              </a:rPr>
              <a:t>•  </a:t>
            </a:r>
            <a:r>
              <a:rPr sz="2100" b="0" i="0">
                <a:solidFill>
                  <a:srgbClr val="262B40"/>
                </a:solidFill>
                <a:latin typeface="Calibri"/>
              </a:rPr>
              <a:t>Still verifiable if the registry is offline or its database is lost</a:t>
            </a:r>
          </a:p>
        </p:txBody>
      </p:sp>
      <p:sp>
        <p:nvSpPr>
          <p:cNvPr id="29" name="Rounded Rectangle 28"/>
          <p:cNvSpPr/>
          <p:nvPr/>
        </p:nvSpPr>
        <p:spPr>
          <a:xfrm>
            <a:off x="12124944" y="4800600"/>
            <a:ext cx="5349240" cy="3611880"/>
          </a:xfrm>
          <a:prstGeom prst="roundRect">
            <a:avLst>
              <a:gd name="adj" fmla="val 5000"/>
            </a:avLst>
          </a:prstGeom>
          <a:solidFill>
            <a:srgbClr val="FFFFFF">
              <a:alpha val="94000"/>
            </a:srgbClr>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2399264" y="5001768"/>
            <a:ext cx="4800600" cy="502920"/>
          </a:xfrm>
          <a:prstGeom prst="rect">
            <a:avLst/>
          </a:prstGeom>
          <a:noFill/>
        </p:spPr>
        <p:txBody>
          <a:bodyPr wrap="square" lIns="0" tIns="0" rIns="0" bIns="0" anchor="ctr">
            <a:spAutoFit/>
          </a:bodyPr>
          <a:lstStyle/>
          <a:p>
            <a:pPr algn="l">
              <a:spcAft>
                <a:spcPts val="0"/>
              </a:spcAft>
            </a:pPr>
            <a:r>
              <a:rPr sz="2800" b="1" i="0" spc="120">
                <a:solidFill>
                  <a:srgbClr val="4E4A76"/>
                </a:solidFill>
                <a:latin typeface="Heading Now 31-38 Bold"/>
              </a:rPr>
              <a:t>VERIFIERS</a:t>
            </a:r>
          </a:p>
        </p:txBody>
      </p:sp>
      <p:sp>
        <p:nvSpPr>
          <p:cNvPr id="31" name="TextBox 30"/>
          <p:cNvSpPr txBox="1"/>
          <p:nvPr/>
        </p:nvSpPr>
        <p:spPr>
          <a:xfrm>
            <a:off x="12399264" y="5669280"/>
            <a:ext cx="4800600" cy="2606040"/>
          </a:xfrm>
          <a:prstGeom prst="rect">
            <a:avLst/>
          </a:prstGeom>
          <a:noFill/>
        </p:spPr>
        <p:txBody>
          <a:bodyPr wrap="square" lIns="0" tIns="0" rIns="0" bIns="0" anchor="t">
            <a:spAutoFit/>
          </a:bodyPr>
          <a:lstStyle/>
          <a:p>
            <a:pPr algn="l">
              <a:spcAft>
                <a:spcPts val="1000"/>
              </a:spcAft>
            </a:pPr>
            <a:r>
              <a:rPr sz="2100" b="1" i="0">
                <a:solidFill>
                  <a:srgbClr val="D9614E"/>
                </a:solidFill>
                <a:latin typeface="Calibri"/>
              </a:rPr>
              <a:t>•  </a:t>
            </a:r>
            <a:r>
              <a:rPr sz="2100" b="0" i="0">
                <a:solidFill>
                  <a:srgbClr val="262B40"/>
                </a:solidFill>
                <a:latin typeface="Calibri"/>
              </a:rPr>
              <a:t>Employers, auditors and banks check in seconds without calling the issuer</a:t>
            </a:r>
          </a:p>
          <a:p>
            <a:pPr algn="l">
              <a:spcAft>
                <a:spcPts val="1000"/>
              </a:spcAft>
            </a:pPr>
            <a:r>
              <a:rPr sz="2100" b="1" i="0">
                <a:solidFill>
                  <a:srgbClr val="D9614E"/>
                </a:solidFill>
                <a:latin typeface="Calibri"/>
              </a:rPr>
              <a:t>•  </a:t>
            </a:r>
            <a:r>
              <a:rPr sz="2100" b="0" i="0">
                <a:solidFill>
                  <a:srgbClr val="262B40"/>
                </a:solidFill>
                <a:latin typeface="Calibri"/>
              </a:rPr>
              <a:t>Works offline with a copy of the ledger</a:t>
            </a:r>
          </a:p>
          <a:p>
            <a:pPr algn="l">
              <a:spcAft>
                <a:spcPts val="1000"/>
              </a:spcAft>
            </a:pPr>
            <a:r>
              <a:rPr sz="2100" b="1" i="0">
                <a:solidFill>
                  <a:srgbClr val="D9614E"/>
                </a:solidFill>
                <a:latin typeface="Calibri"/>
              </a:rPr>
              <a:t>•  </a:t>
            </a:r>
            <a:r>
              <a:rPr sz="2100" b="0" i="0">
                <a:solidFill>
                  <a:srgbClr val="262B40"/>
                </a:solidFill>
                <a:latin typeface="Calibri"/>
              </a:rPr>
              <a:t>Told exactly which check failed, with the hashes</a:t>
            </a:r>
          </a:p>
        </p:txBody>
      </p:sp>
      <p:sp>
        <p:nvSpPr>
          <p:cNvPr id="32" name="TextBox 31"/>
          <p:cNvSpPr txBox="1"/>
          <p:nvPr/>
        </p:nvSpPr>
        <p:spPr>
          <a:xfrm>
            <a:off x="822960" y="8613648"/>
            <a:ext cx="2194560" cy="822960"/>
          </a:xfrm>
          <a:prstGeom prst="rect">
            <a:avLst/>
          </a:prstGeom>
          <a:noFill/>
        </p:spPr>
        <p:txBody>
          <a:bodyPr wrap="square" lIns="0" tIns="0" rIns="0" bIns="0" anchor="ctr">
            <a:spAutoFit/>
          </a:bodyPr>
          <a:lstStyle/>
          <a:p>
            <a:pPr algn="l">
              <a:spcAft>
                <a:spcPts val="0"/>
              </a:spcAft>
            </a:pPr>
            <a:r>
              <a:rPr sz="1900" b="1" i="0">
                <a:solidFill>
                  <a:srgbClr val="4E4A76"/>
                </a:solidFill>
                <a:latin typeface="Calibri"/>
              </a:rPr>
              <a:t>WHERE IT FITS</a:t>
            </a:r>
          </a:p>
        </p:txBody>
      </p:sp>
      <p:sp>
        <p:nvSpPr>
          <p:cNvPr id="33" name="Rounded Rectangle 32"/>
          <p:cNvSpPr/>
          <p:nvPr/>
        </p:nvSpPr>
        <p:spPr>
          <a:xfrm>
            <a:off x="3017520" y="8659368"/>
            <a:ext cx="3474720" cy="749808"/>
          </a:xfrm>
          <a:prstGeom prst="roundRect">
            <a:avLst>
              <a:gd name="adj" fmla="val 30000"/>
            </a:avLst>
          </a:prstGeom>
          <a:solidFill>
            <a:srgbClr val="ECE6F4"/>
          </a:solidFill>
          <a:ln w="15875">
            <a:solidFill>
              <a:srgbClr val="7F5E8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800" b="1" i="0">
                <a:solidFill>
                  <a:srgbClr val="172243"/>
                </a:solidFill>
                <a:latin typeface="Calibri"/>
              </a:rPr>
              <a:t>Degree certificates and transcripts</a:t>
            </a:r>
          </a:p>
        </p:txBody>
      </p:sp>
      <p:sp>
        <p:nvSpPr>
          <p:cNvPr id="34" name="Rounded Rectangle 33"/>
          <p:cNvSpPr/>
          <p:nvPr/>
        </p:nvSpPr>
        <p:spPr>
          <a:xfrm>
            <a:off x="6647688" y="8659368"/>
            <a:ext cx="3474720" cy="749808"/>
          </a:xfrm>
          <a:prstGeom prst="roundRect">
            <a:avLst>
              <a:gd name="adj" fmla="val 30000"/>
            </a:avLst>
          </a:prstGeom>
          <a:solidFill>
            <a:srgbClr val="ECE6F4"/>
          </a:solidFill>
          <a:ln w="15875">
            <a:solidFill>
              <a:srgbClr val="7F5E8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800" b="1" i="0">
                <a:solidFill>
                  <a:srgbClr val="172243"/>
                </a:solidFill>
                <a:latin typeface="Calibri"/>
              </a:rPr>
              <a:t>Contracts and agreements</a:t>
            </a:r>
          </a:p>
        </p:txBody>
      </p:sp>
      <p:sp>
        <p:nvSpPr>
          <p:cNvPr id="35" name="Rounded Rectangle 34"/>
          <p:cNvSpPr/>
          <p:nvPr/>
        </p:nvSpPr>
        <p:spPr>
          <a:xfrm>
            <a:off x="10277856" y="8659368"/>
            <a:ext cx="3474720" cy="749808"/>
          </a:xfrm>
          <a:prstGeom prst="roundRect">
            <a:avLst>
              <a:gd name="adj" fmla="val 30000"/>
            </a:avLst>
          </a:prstGeom>
          <a:solidFill>
            <a:srgbClr val="ECE6F4"/>
          </a:solidFill>
          <a:ln w="15875">
            <a:solidFill>
              <a:srgbClr val="7F5E8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800" b="1" i="0">
                <a:solidFill>
                  <a:srgbClr val="172243"/>
                </a:solidFill>
                <a:latin typeface="Calibri"/>
              </a:rPr>
              <a:t>Licences and permits</a:t>
            </a:r>
          </a:p>
        </p:txBody>
      </p:sp>
      <p:sp>
        <p:nvSpPr>
          <p:cNvPr id="36" name="Rounded Rectangle 35"/>
          <p:cNvSpPr/>
          <p:nvPr/>
        </p:nvSpPr>
        <p:spPr>
          <a:xfrm>
            <a:off x="13908024" y="8659368"/>
            <a:ext cx="3474720" cy="749808"/>
          </a:xfrm>
          <a:prstGeom prst="roundRect">
            <a:avLst>
              <a:gd name="adj" fmla="val 30000"/>
            </a:avLst>
          </a:prstGeom>
          <a:solidFill>
            <a:srgbClr val="ECE6F4"/>
          </a:solidFill>
          <a:ln w="15875">
            <a:solidFill>
              <a:srgbClr val="7F5E87"/>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spcAft>
                <a:spcPts val="0"/>
              </a:spcAft>
            </a:pPr>
            <a:r>
              <a:rPr sz="1800" b="1" i="0">
                <a:solidFill>
                  <a:srgbClr val="172243"/>
                </a:solidFill>
                <a:latin typeface="Calibri"/>
              </a:rPr>
              <a:t>Audit and compliance records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479517"/>
            <a:chOff x="0" y="0"/>
            <a:chExt cx="24384000" cy="13972689"/>
          </a:xfrm>
        </p:grpSpPr>
        <p:sp>
          <p:nvSpPr>
            <p:cNvPr id="4" name="Freeform 4"/>
            <p:cNvSpPr/>
            <p:nvPr/>
          </p:nvSpPr>
          <p:spPr>
            <a:xfrm>
              <a:off x="0" y="0"/>
              <a:ext cx="2333397" cy="13147537"/>
            </a:xfrm>
            <a:custGeom>
              <a:avLst/>
              <a:gdLst/>
              <a:ahLst/>
              <a:cxnLst/>
              <a:rect l="l" t="t" r="r" b="b"/>
              <a:pathLst>
                <a:path w="2333397" h="13147537">
                  <a:moveTo>
                    <a:pt x="0" y="0"/>
                  </a:moveTo>
                  <a:lnTo>
                    <a:pt x="2333397" y="0"/>
                  </a:lnTo>
                  <a:lnTo>
                    <a:pt x="2333397" y="13147537"/>
                  </a:lnTo>
                  <a:lnTo>
                    <a:pt x="0" y="13147537"/>
                  </a:lnTo>
                  <a:lnTo>
                    <a:pt x="0" y="0"/>
                  </a:lnTo>
                  <a:close/>
                </a:path>
              </a:pathLst>
            </a:custGeom>
            <a:blipFill>
              <a:blip r:embed="rId4"/>
              <a:stretch>
                <a:fillRect/>
              </a:stretch>
            </a:blipFill>
          </p:spPr>
        </p:sp>
        <p:sp>
          <p:nvSpPr>
            <p:cNvPr id="5" name="Freeform 5"/>
            <p:cNvSpPr/>
            <p:nvPr/>
          </p:nvSpPr>
          <p:spPr>
            <a:xfrm>
              <a:off x="19148440" y="8847622"/>
              <a:ext cx="2333397" cy="2303005"/>
            </a:xfrm>
            <a:custGeom>
              <a:avLst/>
              <a:gdLst/>
              <a:ahLst/>
              <a:cxnLst/>
              <a:rect l="l" t="t" r="r" b="b"/>
              <a:pathLst>
                <a:path w="2333397" h="2303005">
                  <a:moveTo>
                    <a:pt x="0" y="0"/>
                  </a:moveTo>
                  <a:lnTo>
                    <a:pt x="2333397" y="0"/>
                  </a:lnTo>
                  <a:lnTo>
                    <a:pt x="2333397" y="2303005"/>
                  </a:lnTo>
                  <a:lnTo>
                    <a:pt x="0" y="2303005"/>
                  </a:lnTo>
                  <a:lnTo>
                    <a:pt x="0" y="0"/>
                  </a:lnTo>
                  <a:close/>
                </a:path>
              </a:pathLst>
            </a:custGeom>
            <a:blipFill>
              <a:blip r:embed="rId5"/>
              <a:stretch>
                <a:fillRect/>
              </a:stretch>
            </a:blipFill>
          </p:spPr>
        </p:sp>
        <p:sp>
          <p:nvSpPr>
            <p:cNvPr id="6" name="Freeform 6"/>
            <p:cNvSpPr/>
            <p:nvPr/>
          </p:nvSpPr>
          <p:spPr>
            <a:xfrm>
              <a:off x="17412976" y="9395831"/>
              <a:ext cx="6971024" cy="4342033"/>
            </a:xfrm>
            <a:custGeom>
              <a:avLst/>
              <a:gdLst/>
              <a:ahLst/>
              <a:cxnLst/>
              <a:rect l="l" t="t" r="r" b="b"/>
              <a:pathLst>
                <a:path w="6971024" h="4342033">
                  <a:moveTo>
                    <a:pt x="0" y="0"/>
                  </a:moveTo>
                  <a:lnTo>
                    <a:pt x="6971024" y="0"/>
                  </a:lnTo>
                  <a:lnTo>
                    <a:pt x="6971024" y="4342033"/>
                  </a:lnTo>
                  <a:lnTo>
                    <a:pt x="0" y="4342033"/>
                  </a:lnTo>
                  <a:lnTo>
                    <a:pt x="0" y="0"/>
                  </a:lnTo>
                  <a:close/>
                </a:path>
              </a:pathLst>
            </a:custGeom>
            <a:blipFill>
              <a:blip r:embed="rId6"/>
              <a:stretch>
                <a:fillRect t="-5743"/>
              </a:stretch>
            </a:blipFill>
          </p:spPr>
        </p:sp>
        <p:sp>
          <p:nvSpPr>
            <p:cNvPr id="7" name="Freeform 7"/>
            <p:cNvSpPr/>
            <p:nvPr/>
          </p:nvSpPr>
          <p:spPr>
            <a:xfrm>
              <a:off x="0" y="9395831"/>
              <a:ext cx="1750048" cy="4576859"/>
            </a:xfrm>
            <a:custGeom>
              <a:avLst/>
              <a:gdLst/>
              <a:ahLst/>
              <a:cxnLst/>
              <a:rect l="l" t="t" r="r" b="b"/>
              <a:pathLst>
                <a:path w="1750048" h="4576859">
                  <a:moveTo>
                    <a:pt x="0" y="0"/>
                  </a:moveTo>
                  <a:lnTo>
                    <a:pt x="1750048" y="0"/>
                  </a:lnTo>
                  <a:lnTo>
                    <a:pt x="1750048" y="4576858"/>
                  </a:lnTo>
                  <a:lnTo>
                    <a:pt x="0" y="4576858"/>
                  </a:lnTo>
                  <a:lnTo>
                    <a:pt x="0" y="0"/>
                  </a:lnTo>
                  <a:close/>
                </a:path>
              </a:pathLst>
            </a:custGeom>
            <a:blipFill>
              <a:blip r:embed="rId7"/>
              <a:stretch>
                <a:fillRect/>
              </a:stretch>
            </a:blipFill>
          </p:spPr>
        </p:sp>
        <p:sp>
          <p:nvSpPr>
            <p:cNvPr id="8" name="Freeform 8"/>
            <p:cNvSpPr/>
            <p:nvPr/>
          </p:nvSpPr>
          <p:spPr>
            <a:xfrm>
              <a:off x="22633952" y="7273416"/>
              <a:ext cx="1750048" cy="5451418"/>
            </a:xfrm>
            <a:custGeom>
              <a:avLst/>
              <a:gdLst/>
              <a:ahLst/>
              <a:cxnLst/>
              <a:rect l="l" t="t" r="r" b="b"/>
              <a:pathLst>
                <a:path w="1750048" h="5451418">
                  <a:moveTo>
                    <a:pt x="0" y="0"/>
                  </a:moveTo>
                  <a:lnTo>
                    <a:pt x="1750048" y="0"/>
                  </a:lnTo>
                  <a:lnTo>
                    <a:pt x="1750048" y="5451417"/>
                  </a:lnTo>
                  <a:lnTo>
                    <a:pt x="0" y="5451417"/>
                  </a:lnTo>
                  <a:lnTo>
                    <a:pt x="0" y="0"/>
                  </a:lnTo>
                  <a:close/>
                </a:path>
              </a:pathLst>
            </a:custGeom>
            <a:blipFill>
              <a:blip r:embed="rId8"/>
              <a:stretch>
                <a:fillRect/>
              </a:stretch>
            </a:blipFill>
          </p:spPr>
        </p:sp>
        <p:sp>
          <p:nvSpPr>
            <p:cNvPr id="9" name="Freeform 9"/>
            <p:cNvSpPr/>
            <p:nvPr/>
          </p:nvSpPr>
          <p:spPr>
            <a:xfrm>
              <a:off x="22275922" y="9395831"/>
              <a:ext cx="1472957" cy="3162988"/>
            </a:xfrm>
            <a:custGeom>
              <a:avLst/>
              <a:gdLst/>
              <a:ahLst/>
              <a:cxnLst/>
              <a:rect l="l" t="t" r="r" b="b"/>
              <a:pathLst>
                <a:path w="1472957" h="3162988">
                  <a:moveTo>
                    <a:pt x="0" y="0"/>
                  </a:moveTo>
                  <a:lnTo>
                    <a:pt x="1472956" y="0"/>
                  </a:lnTo>
                  <a:lnTo>
                    <a:pt x="1472956" y="3162988"/>
                  </a:lnTo>
                  <a:lnTo>
                    <a:pt x="0" y="3162988"/>
                  </a:lnTo>
                  <a:lnTo>
                    <a:pt x="0" y="0"/>
                  </a:lnTo>
                  <a:close/>
                </a:path>
              </a:pathLst>
            </a:custGeom>
            <a:blipFill>
              <a:blip r:embed="rId9"/>
              <a:stretch>
                <a:fillRect/>
              </a:stretch>
            </a:blipFill>
          </p:spPr>
        </p:sp>
      </p:grpSp>
      <p:sp>
        <p:nvSpPr>
          <p:cNvPr id="10" name="TextBox 10"/>
          <p:cNvSpPr txBox="1"/>
          <p:nvPr/>
        </p:nvSpPr>
        <p:spPr>
          <a:xfrm>
            <a:off x="-1221244" y="-57150"/>
            <a:ext cx="7321566" cy="1200150"/>
          </a:xfrm>
          <a:prstGeom prst="rect">
            <a:avLst/>
          </a:prstGeom>
        </p:spPr>
        <p:txBody>
          <a:bodyPr lIns="0" tIns="0" rIns="0" bIns="0" rtlCol="0" anchor="t">
            <a:spAutoFit/>
          </a:bodyPr>
          <a:lstStyle/>
          <a:p>
            <a:pPr algn="ctr">
              <a:lnSpc>
                <a:spcPts val="7500"/>
              </a:lnSpc>
            </a:pPr>
            <a:r>
              <a:rPr lang="en-US" sz="7500" b="1" spc="150">
                <a:solidFill>
                  <a:srgbClr val="172243"/>
                </a:solidFill>
                <a:latin typeface="Heading Now 31-38 Bold"/>
                <a:ea typeface="Heading Now 31-38 Bold"/>
                <a:cs typeface="Heading Now 31-38 Bold"/>
                <a:sym typeface="Heading Now 31-38 Bold"/>
              </a:rPr>
              <a:t>DIFFERENTIATOR</a:t>
            </a:r>
          </a:p>
        </p:txBody>
      </p:sp>
      <p:sp>
        <p:nvSpPr>
          <p:cNvPr id="11" name="Freeform 11"/>
          <p:cNvSpPr/>
          <p:nvPr/>
        </p:nvSpPr>
        <p:spPr>
          <a:xfrm>
            <a:off x="355509" y="1028700"/>
            <a:ext cx="5020450" cy="535667"/>
          </a:xfrm>
          <a:custGeom>
            <a:avLst/>
            <a:gdLst/>
            <a:ahLst/>
            <a:cxnLst/>
            <a:rect l="l" t="t" r="r" b="b"/>
            <a:pathLst>
              <a:path w="5020450" h="535667">
                <a:moveTo>
                  <a:pt x="0" y="0"/>
                </a:moveTo>
                <a:lnTo>
                  <a:pt x="5020449" y="0"/>
                </a:lnTo>
                <a:lnTo>
                  <a:pt x="5020449" y="535667"/>
                </a:lnTo>
                <a:lnTo>
                  <a:pt x="0" y="535667"/>
                </a:lnTo>
                <a:lnTo>
                  <a:pt x="0" y="0"/>
                </a:lnTo>
                <a:close/>
              </a:path>
            </a:pathLst>
          </a:custGeom>
          <a:blipFill>
            <a:blip r:embed="rId10"/>
            <a:stretch>
              <a:fillRect l="-11250" r="-11250"/>
            </a:stretch>
          </a:blipFill>
        </p:spPr>
      </p:sp>
      <p:sp>
        <p:nvSpPr>
          <p:cNvPr id="12" name="Freeform 12"/>
          <p:cNvSpPr/>
          <p:nvPr/>
        </p:nvSpPr>
        <p:spPr>
          <a:xfrm>
            <a:off x="13923818" y="2160727"/>
            <a:ext cx="4364182" cy="2153601"/>
          </a:xfrm>
          <a:custGeom>
            <a:avLst/>
            <a:gdLst/>
            <a:ahLst/>
            <a:cxnLst/>
            <a:rect l="l" t="t" r="r" b="b"/>
            <a:pathLst>
              <a:path w="4364182" h="2153601">
                <a:moveTo>
                  <a:pt x="0" y="0"/>
                </a:moveTo>
                <a:lnTo>
                  <a:pt x="4364182" y="0"/>
                </a:lnTo>
                <a:lnTo>
                  <a:pt x="4364182" y="2153601"/>
                </a:lnTo>
                <a:lnTo>
                  <a:pt x="0" y="2153601"/>
                </a:lnTo>
                <a:lnTo>
                  <a:pt x="0" y="0"/>
                </a:lnTo>
                <a:close/>
              </a:path>
            </a:pathLst>
          </a:custGeom>
          <a:blipFill>
            <a:blip r:embed="rId11">
              <a:alphaModFix amt="68000"/>
            </a:blip>
            <a:stretch>
              <a:fillRect/>
            </a:stretch>
          </a:blipFill>
        </p:spPr>
      </p:sp>
      <p:sp>
        <p:nvSpPr>
          <p:cNvPr id="13" name="Freeform 13"/>
          <p:cNvSpPr/>
          <p:nvPr/>
        </p:nvSpPr>
        <p:spPr>
          <a:xfrm>
            <a:off x="16178937" y="216170"/>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2"/>
            <a:stretch>
              <a:fillRect/>
            </a:stretch>
          </a:blipFill>
        </p:spPr>
      </p:sp>
      <p:graphicFrame>
        <p:nvGraphicFramePr>
          <p:cNvPr id="14" name="Table 13"/>
          <p:cNvGraphicFramePr>
            <a:graphicFrameLocks noGrp="1"/>
          </p:cNvGraphicFramePr>
          <p:nvPr/>
        </p:nvGraphicFramePr>
        <p:xfrm>
          <a:off x="822960" y="2423160"/>
          <a:ext cx="11338560" cy="6400800"/>
        </p:xfrm>
        <a:graphic>
          <a:graphicData uri="http://schemas.openxmlformats.org/drawingml/2006/table">
            <a:tbl>
              <a:tblPr/>
              <a:tblGrid>
                <a:gridCol w="39319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14600">
                  <a:extLst>
                    <a:ext uri="{9D8B030D-6E8A-4147-A177-3AD203B41FA5}">
                      <a16:colId xmlns:a16="http://schemas.microsoft.com/office/drawing/2014/main" val="20003"/>
                    </a:ext>
                  </a:extLst>
                </a:gridCol>
              </a:tblGrid>
              <a:tr h="1051560">
                <a:tc>
                  <a:txBody>
                    <a:bodyPr/>
                    <a:lstStyle/>
                    <a:p>
                      <a:pPr algn="l">
                        <a:spcAft>
                          <a:spcPts val="0"/>
                        </a:spcAft>
                      </a:pPr>
                      <a:r>
                        <a:rPr sz="2000" b="1" i="0">
                          <a:solidFill>
                            <a:srgbClr val="172243"/>
                          </a:solidFill>
                          <a:latin typeface="Calibri"/>
                        </a:rPr>
                        <a:t>Capability</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D9CFEA"/>
                    </a:solidFill>
                  </a:tcPr>
                </a:tc>
                <a:tc>
                  <a:txBody>
                    <a:bodyPr/>
                    <a:lstStyle/>
                    <a:p>
                      <a:pPr algn="ctr">
                        <a:spcAft>
                          <a:spcPts val="0"/>
                        </a:spcAft>
                      </a:pPr>
                      <a:r>
                        <a:rPr sz="2000" b="1" i="0">
                          <a:solidFill>
                            <a:srgbClr val="172243"/>
                          </a:solidFill>
                          <a:latin typeface="Calibri"/>
                        </a:rPr>
                        <a:t>Hash stored in the same database</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D9CFEA"/>
                    </a:solidFill>
                  </a:tcPr>
                </a:tc>
                <a:tc>
                  <a:txBody>
                    <a:bodyPr/>
                    <a:lstStyle/>
                    <a:p>
                      <a:pPr algn="ctr">
                        <a:spcAft>
                          <a:spcPts val="0"/>
                        </a:spcAft>
                      </a:pPr>
                      <a:r>
                        <a:rPr sz="2000" b="1" i="0">
                          <a:solidFill>
                            <a:srgbClr val="172243"/>
                          </a:solidFill>
                          <a:latin typeface="Calibri"/>
                        </a:rPr>
                        <a:t>Typical public-blockchain anchoring</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D9CFEA"/>
                    </a:solidFill>
                  </a:tcPr>
                </a:tc>
                <a:tc>
                  <a:txBody>
                    <a:bodyPr/>
                    <a:lstStyle/>
                    <a:p>
                      <a:pPr algn="ctr">
                        <a:spcAft>
                          <a:spcPts val="0"/>
                        </a:spcAft>
                      </a:pPr>
                      <a:r>
                        <a:rPr sz="2000" b="1" i="0">
                          <a:solidFill>
                            <a:srgbClr val="F3B9A8"/>
                          </a:solidFill>
                          <a:latin typeface="Calibri"/>
                        </a:rPr>
                        <a:t>ProofChain</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172243"/>
                    </a:solidFill>
                  </a:tcPr>
                </a:tc>
                <a:extLst>
                  <a:ext uri="{0D108BD9-81ED-4DB2-BD59-A6C34878D82A}">
                    <a16:rowId xmlns:a16="http://schemas.microsoft.com/office/drawing/2014/main" val="10000"/>
                  </a:ext>
                </a:extLst>
              </a:tr>
              <a:tr h="891540">
                <a:tc>
                  <a:txBody>
                    <a:bodyPr/>
                    <a:lstStyle/>
                    <a:p>
                      <a:pPr algn="l">
                        <a:spcAft>
                          <a:spcPts val="0"/>
                        </a:spcAft>
                      </a:pPr>
                      <a:r>
                        <a:rPr sz="1900" b="1" i="0">
                          <a:solidFill>
                            <a:srgbClr val="172243"/>
                          </a:solidFill>
                          <a:latin typeface="Calibri"/>
                        </a:rPr>
                        <a:t>Insider database rewrite is detected</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ECE6F4"/>
                    </a:solidFill>
                  </a:tcPr>
                </a:tc>
                <a:tc>
                  <a:txBody>
                    <a:bodyPr/>
                    <a:lstStyle/>
                    <a:p>
                      <a:pPr algn="ctr">
                        <a:spcAft>
                          <a:spcPts val="0"/>
                        </a:spcAft>
                      </a:pPr>
                      <a:r>
                        <a:rPr sz="1900" b="0" i="0">
                          <a:solidFill>
                            <a:srgbClr val="262B40"/>
                          </a:solidFill>
                          <a:latin typeface="Calibri"/>
                        </a:rPr>
                        <a:t>No</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FFFFFF"/>
                    </a:solidFill>
                  </a:tcPr>
                </a:tc>
                <a:tc>
                  <a:txBody>
                    <a:bodyPr/>
                    <a:lstStyle/>
                    <a:p>
                      <a:pPr algn="ctr">
                        <a:spcAft>
                          <a:spcPts val="0"/>
                        </a:spcAft>
                      </a:pPr>
                      <a:r>
                        <a:rPr sz="1900" b="0" i="0">
                          <a:solidFill>
                            <a:srgbClr val="262B40"/>
                          </a:solidFill>
                          <a:latin typeface="Calibri"/>
                        </a:rPr>
                        <a:t>Yes</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FFFFFF"/>
                    </a:solidFill>
                  </a:tcPr>
                </a:tc>
                <a:tc>
                  <a:txBody>
                    <a:bodyPr/>
                    <a:lstStyle/>
                    <a:p>
                      <a:pPr algn="ctr">
                        <a:spcAft>
                          <a:spcPts val="0"/>
                        </a:spcAft>
                      </a:pPr>
                      <a:r>
                        <a:rPr sz="1900" b="1" i="0">
                          <a:solidFill>
                            <a:srgbClr val="FFFFFF"/>
                          </a:solidFill>
                          <a:latin typeface="Calibri"/>
                        </a:rPr>
                        <a:t>Yes</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172243"/>
                    </a:solidFill>
                  </a:tcPr>
                </a:tc>
                <a:extLst>
                  <a:ext uri="{0D108BD9-81ED-4DB2-BD59-A6C34878D82A}">
                    <a16:rowId xmlns:a16="http://schemas.microsoft.com/office/drawing/2014/main" val="10001"/>
                  </a:ext>
                </a:extLst>
              </a:tr>
              <a:tr h="891540">
                <a:tc>
                  <a:txBody>
                    <a:bodyPr/>
                    <a:lstStyle/>
                    <a:p>
                      <a:pPr algn="l">
                        <a:spcAft>
                          <a:spcPts val="0"/>
                        </a:spcAft>
                      </a:pPr>
                      <a:r>
                        <a:rPr sz="1900" b="1" i="0">
                          <a:solidFill>
                            <a:srgbClr val="172243"/>
                          </a:solidFill>
                          <a:latin typeface="Calibri"/>
                        </a:rPr>
                        <a:t>Needs tokens, fees or a node network</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ECE6F4"/>
                    </a:solidFill>
                  </a:tcPr>
                </a:tc>
                <a:tc>
                  <a:txBody>
                    <a:bodyPr/>
                    <a:lstStyle/>
                    <a:p>
                      <a:pPr algn="ctr">
                        <a:spcAft>
                          <a:spcPts val="0"/>
                        </a:spcAft>
                      </a:pPr>
                      <a:r>
                        <a:rPr sz="1900" b="0" i="0">
                          <a:solidFill>
                            <a:srgbClr val="262B40"/>
                          </a:solidFill>
                          <a:latin typeface="Calibri"/>
                        </a:rPr>
                        <a:t>No</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FFFFFF"/>
                    </a:solidFill>
                  </a:tcPr>
                </a:tc>
                <a:tc>
                  <a:txBody>
                    <a:bodyPr/>
                    <a:lstStyle/>
                    <a:p>
                      <a:pPr algn="ctr">
                        <a:spcAft>
                          <a:spcPts val="0"/>
                        </a:spcAft>
                      </a:pPr>
                      <a:r>
                        <a:rPr sz="1900" b="0" i="0">
                          <a:solidFill>
                            <a:srgbClr val="262B40"/>
                          </a:solidFill>
                          <a:latin typeface="Calibri"/>
                        </a:rPr>
                        <a:t>Yes</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FFFFFF"/>
                    </a:solidFill>
                  </a:tcPr>
                </a:tc>
                <a:tc>
                  <a:txBody>
                    <a:bodyPr/>
                    <a:lstStyle/>
                    <a:p>
                      <a:pPr algn="ctr">
                        <a:spcAft>
                          <a:spcPts val="0"/>
                        </a:spcAft>
                      </a:pPr>
                      <a:r>
                        <a:rPr sz="1900" b="1" i="0">
                          <a:solidFill>
                            <a:srgbClr val="FFFFFF"/>
                          </a:solidFill>
                          <a:latin typeface="Calibri"/>
                        </a:rPr>
                        <a:t>No</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172243"/>
                    </a:solidFill>
                  </a:tcPr>
                </a:tc>
                <a:extLst>
                  <a:ext uri="{0D108BD9-81ED-4DB2-BD59-A6C34878D82A}">
                    <a16:rowId xmlns:a16="http://schemas.microsoft.com/office/drawing/2014/main" val="10002"/>
                  </a:ext>
                </a:extLst>
              </a:tr>
              <a:tr h="891540">
                <a:tc>
                  <a:txBody>
                    <a:bodyPr/>
                    <a:lstStyle/>
                    <a:p>
                      <a:pPr algn="l">
                        <a:spcAft>
                          <a:spcPts val="0"/>
                        </a:spcAft>
                      </a:pPr>
                      <a:r>
                        <a:rPr sz="1900" b="1" i="0">
                          <a:solidFill>
                            <a:srgbClr val="172243"/>
                          </a:solidFill>
                          <a:latin typeface="Calibri"/>
                        </a:rPr>
                        <a:t>Verify one record offline</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ECE6F4"/>
                    </a:solidFill>
                  </a:tcPr>
                </a:tc>
                <a:tc>
                  <a:txBody>
                    <a:bodyPr/>
                    <a:lstStyle/>
                    <a:p>
                      <a:pPr algn="ctr">
                        <a:spcAft>
                          <a:spcPts val="0"/>
                        </a:spcAft>
                      </a:pPr>
                      <a:r>
                        <a:rPr sz="1900" b="0" i="0">
                          <a:solidFill>
                            <a:srgbClr val="262B40"/>
                          </a:solidFill>
                          <a:latin typeface="Calibri"/>
                        </a:rPr>
                        <a:t>No</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FFFFFF"/>
                    </a:solidFill>
                  </a:tcPr>
                </a:tc>
                <a:tc>
                  <a:txBody>
                    <a:bodyPr/>
                    <a:lstStyle/>
                    <a:p>
                      <a:pPr algn="ctr">
                        <a:spcAft>
                          <a:spcPts val="0"/>
                        </a:spcAft>
                      </a:pPr>
                      <a:r>
                        <a:rPr sz="1900" b="0" i="0">
                          <a:solidFill>
                            <a:srgbClr val="262B40"/>
                          </a:solidFill>
                          <a:latin typeface="Calibri"/>
                        </a:rPr>
                        <a:t>Limited</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FFFFFF"/>
                    </a:solidFill>
                  </a:tcPr>
                </a:tc>
                <a:tc>
                  <a:txBody>
                    <a:bodyPr/>
                    <a:lstStyle/>
                    <a:p>
                      <a:pPr algn="ctr">
                        <a:spcAft>
                          <a:spcPts val="0"/>
                        </a:spcAft>
                      </a:pPr>
                      <a:r>
                        <a:rPr sz="1900" b="1" i="0">
                          <a:solidFill>
                            <a:srgbClr val="FFFFFF"/>
                          </a:solidFill>
                          <a:latin typeface="Calibri"/>
                        </a:rPr>
                        <a:t>Yes</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172243"/>
                    </a:solidFill>
                  </a:tcPr>
                </a:tc>
                <a:extLst>
                  <a:ext uri="{0D108BD9-81ED-4DB2-BD59-A6C34878D82A}">
                    <a16:rowId xmlns:a16="http://schemas.microsoft.com/office/drawing/2014/main" val="10003"/>
                  </a:ext>
                </a:extLst>
              </a:tr>
              <a:tr h="891540">
                <a:tc>
                  <a:txBody>
                    <a:bodyPr/>
                    <a:lstStyle/>
                    <a:p>
                      <a:pPr algn="l">
                        <a:spcAft>
                          <a:spcPts val="0"/>
                        </a:spcAft>
                      </a:pPr>
                      <a:r>
                        <a:rPr sz="1900" b="1" i="0">
                          <a:solidFill>
                            <a:srgbClr val="172243"/>
                          </a:solidFill>
                          <a:latin typeface="Calibri"/>
                        </a:rPr>
                        <a:t>Names which check failed</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ECE6F4"/>
                    </a:solidFill>
                  </a:tcPr>
                </a:tc>
                <a:tc>
                  <a:txBody>
                    <a:bodyPr/>
                    <a:lstStyle/>
                    <a:p>
                      <a:pPr algn="ctr">
                        <a:spcAft>
                          <a:spcPts val="0"/>
                        </a:spcAft>
                      </a:pPr>
                      <a:r>
                        <a:rPr sz="1900" b="0" i="0">
                          <a:solidFill>
                            <a:srgbClr val="262B40"/>
                          </a:solidFill>
                          <a:latin typeface="Calibri"/>
                        </a:rPr>
                        <a:t>No</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FFFFFF"/>
                    </a:solidFill>
                  </a:tcPr>
                </a:tc>
                <a:tc>
                  <a:txBody>
                    <a:bodyPr/>
                    <a:lstStyle/>
                    <a:p>
                      <a:pPr algn="ctr">
                        <a:spcAft>
                          <a:spcPts val="0"/>
                        </a:spcAft>
                      </a:pPr>
                      <a:r>
                        <a:rPr sz="1900" b="0" i="0">
                          <a:solidFill>
                            <a:srgbClr val="262B40"/>
                          </a:solidFill>
                          <a:latin typeface="Calibri"/>
                        </a:rPr>
                        <a:t>Rarely</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FFFFFF"/>
                    </a:solidFill>
                  </a:tcPr>
                </a:tc>
                <a:tc>
                  <a:txBody>
                    <a:bodyPr/>
                    <a:lstStyle/>
                    <a:p>
                      <a:pPr algn="ctr">
                        <a:spcAft>
                          <a:spcPts val="0"/>
                        </a:spcAft>
                      </a:pPr>
                      <a:r>
                        <a:rPr sz="1900" b="1" i="0">
                          <a:solidFill>
                            <a:srgbClr val="FFFFFF"/>
                          </a:solidFill>
                          <a:latin typeface="Calibri"/>
                        </a:rPr>
                        <a:t>Yes, 5 codes</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172243"/>
                    </a:solidFill>
                  </a:tcPr>
                </a:tc>
                <a:extLst>
                  <a:ext uri="{0D108BD9-81ED-4DB2-BD59-A6C34878D82A}">
                    <a16:rowId xmlns:a16="http://schemas.microsoft.com/office/drawing/2014/main" val="10004"/>
                  </a:ext>
                </a:extLst>
              </a:tr>
              <a:tr h="891540">
                <a:tc>
                  <a:txBody>
                    <a:bodyPr/>
                    <a:lstStyle/>
                    <a:p>
                      <a:pPr algn="l">
                        <a:spcAft>
                          <a:spcPts val="0"/>
                        </a:spcAft>
                      </a:pPr>
                      <a:r>
                        <a:rPr sz="1900" b="1" i="0">
                          <a:solidFill>
                            <a:srgbClr val="172243"/>
                          </a:solidFill>
                          <a:latin typeface="Calibri"/>
                        </a:rPr>
                        <a:t>Other records stay private</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ECE6F4"/>
                    </a:solidFill>
                  </a:tcPr>
                </a:tc>
                <a:tc>
                  <a:txBody>
                    <a:bodyPr/>
                    <a:lstStyle/>
                    <a:p>
                      <a:pPr algn="ctr">
                        <a:spcAft>
                          <a:spcPts val="0"/>
                        </a:spcAft>
                      </a:pPr>
                      <a:r>
                        <a:rPr sz="1900" b="0" i="0">
                          <a:solidFill>
                            <a:srgbClr val="262B40"/>
                          </a:solidFill>
                          <a:latin typeface="Calibri"/>
                        </a:rPr>
                        <a:t>Not applicable</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FFFFFF"/>
                    </a:solidFill>
                  </a:tcPr>
                </a:tc>
                <a:tc>
                  <a:txBody>
                    <a:bodyPr/>
                    <a:lstStyle/>
                    <a:p>
                      <a:pPr algn="ctr">
                        <a:spcAft>
                          <a:spcPts val="0"/>
                        </a:spcAft>
                      </a:pPr>
                      <a:r>
                        <a:rPr sz="1900" b="0" i="0">
                          <a:solidFill>
                            <a:srgbClr val="262B40"/>
                          </a:solidFill>
                          <a:latin typeface="Calibri"/>
                        </a:rPr>
                        <a:t>Depends on design</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FFFFFF"/>
                    </a:solidFill>
                  </a:tcPr>
                </a:tc>
                <a:tc>
                  <a:txBody>
                    <a:bodyPr/>
                    <a:lstStyle/>
                    <a:p>
                      <a:pPr algn="ctr">
                        <a:spcAft>
                          <a:spcPts val="0"/>
                        </a:spcAft>
                      </a:pPr>
                      <a:r>
                        <a:rPr sz="1900" b="1" i="0">
                          <a:solidFill>
                            <a:srgbClr val="FFFFFF"/>
                          </a:solidFill>
                          <a:latin typeface="Calibri"/>
                        </a:rPr>
                        <a:t>Yes, salted leaves</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172243"/>
                    </a:solidFill>
                  </a:tcPr>
                </a:tc>
                <a:extLst>
                  <a:ext uri="{0D108BD9-81ED-4DB2-BD59-A6C34878D82A}">
                    <a16:rowId xmlns:a16="http://schemas.microsoft.com/office/drawing/2014/main" val="10005"/>
                  </a:ext>
                </a:extLst>
              </a:tr>
              <a:tr h="891540">
                <a:tc>
                  <a:txBody>
                    <a:bodyPr/>
                    <a:lstStyle/>
                    <a:p>
                      <a:pPr algn="l">
                        <a:spcAft>
                          <a:spcPts val="0"/>
                        </a:spcAft>
                      </a:pPr>
                      <a:r>
                        <a:rPr sz="1900" b="1" i="0">
                          <a:solidFill>
                            <a:srgbClr val="172243"/>
                          </a:solidFill>
                          <a:latin typeface="Calibri"/>
                        </a:rPr>
                        <a:t>Second, independent verifier</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ECE6F4"/>
                    </a:solidFill>
                  </a:tcPr>
                </a:tc>
                <a:tc>
                  <a:txBody>
                    <a:bodyPr/>
                    <a:lstStyle/>
                    <a:p>
                      <a:pPr algn="ctr">
                        <a:spcAft>
                          <a:spcPts val="0"/>
                        </a:spcAft>
                      </a:pPr>
                      <a:r>
                        <a:rPr sz="1900" b="0" i="0">
                          <a:solidFill>
                            <a:srgbClr val="262B40"/>
                          </a:solidFill>
                          <a:latin typeface="Calibri"/>
                        </a:rPr>
                        <a:t>No</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FFFFFF"/>
                    </a:solidFill>
                  </a:tcPr>
                </a:tc>
                <a:tc>
                  <a:txBody>
                    <a:bodyPr/>
                    <a:lstStyle/>
                    <a:p>
                      <a:pPr algn="ctr">
                        <a:spcAft>
                          <a:spcPts val="0"/>
                        </a:spcAft>
                      </a:pPr>
                      <a:r>
                        <a:rPr sz="1900" b="0" i="0">
                          <a:solidFill>
                            <a:srgbClr val="262B40"/>
                          </a:solidFill>
                          <a:latin typeface="Calibri"/>
                        </a:rPr>
                        <a:t>Varies</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FFFFFF"/>
                    </a:solidFill>
                  </a:tcPr>
                </a:tc>
                <a:tc>
                  <a:txBody>
                    <a:bodyPr/>
                    <a:lstStyle/>
                    <a:p>
                      <a:pPr algn="ctr">
                        <a:spcAft>
                          <a:spcPts val="0"/>
                        </a:spcAft>
                      </a:pPr>
                      <a:r>
                        <a:rPr sz="1900" b="1" i="0">
                          <a:solidFill>
                            <a:srgbClr val="FFFFFF"/>
                          </a:solidFill>
                          <a:latin typeface="Calibri"/>
                        </a:rPr>
                        <a:t>Yes, WebCrypto</a:t>
                      </a:r>
                    </a:p>
                  </a:txBody>
                  <a:tcPr marL="146304" marR="146304" anchor="ctr">
                    <a:lnL w="12700" cap="flat" cmpd="sng" algn="ctr">
                      <a:solidFill>
                        <a:srgbClr val="DDD3C2"/>
                      </a:solidFill>
                    </a:lnL>
                    <a:lnR w="12700" cap="flat" cmpd="sng" algn="ctr">
                      <a:solidFill>
                        <a:srgbClr val="DDD3C2"/>
                      </a:solidFill>
                    </a:lnR>
                    <a:lnT w="12700" cap="flat" cmpd="sng" algn="ctr">
                      <a:solidFill>
                        <a:srgbClr val="DDD3C2"/>
                      </a:solidFill>
                    </a:lnT>
                    <a:lnB w="12700" cap="flat" cmpd="sng" algn="ctr">
                      <a:solidFill>
                        <a:srgbClr val="DDD3C2"/>
                      </a:solidFill>
                    </a:lnB>
                    <a:solidFill>
                      <a:srgbClr val="172243"/>
                    </a:solidFill>
                  </a:tcPr>
                </a:tc>
                <a:extLst>
                  <a:ext uri="{0D108BD9-81ED-4DB2-BD59-A6C34878D82A}">
                    <a16:rowId xmlns:a16="http://schemas.microsoft.com/office/drawing/2014/main" val="10006"/>
                  </a:ext>
                </a:extLst>
              </a:tr>
            </a:tbl>
          </a:graphicData>
        </a:graphic>
      </p:graphicFrame>
      <p:sp>
        <p:nvSpPr>
          <p:cNvPr id="15" name="TextBox 14"/>
          <p:cNvSpPr txBox="1"/>
          <p:nvPr/>
        </p:nvSpPr>
        <p:spPr>
          <a:xfrm>
            <a:off x="12573000" y="2468880"/>
            <a:ext cx="4846320" cy="502920"/>
          </a:xfrm>
          <a:prstGeom prst="rect">
            <a:avLst/>
          </a:prstGeom>
          <a:noFill/>
        </p:spPr>
        <p:txBody>
          <a:bodyPr wrap="square" lIns="0" tIns="0" rIns="0" bIns="0" anchor="ctr">
            <a:spAutoFit/>
          </a:bodyPr>
          <a:lstStyle/>
          <a:p>
            <a:pPr algn="l">
              <a:spcAft>
                <a:spcPts val="0"/>
              </a:spcAft>
            </a:pPr>
            <a:r>
              <a:rPr sz="2600" b="1" i="0" spc="120">
                <a:solidFill>
                  <a:srgbClr val="172243"/>
                </a:solidFill>
                <a:latin typeface="Heading Now 31-38 Bold"/>
              </a:rPr>
              <a:t>WHAT SETS IT APART</a:t>
            </a:r>
          </a:p>
        </p:txBody>
      </p:sp>
      <p:sp>
        <p:nvSpPr>
          <p:cNvPr id="16" name="Rounded Rectangle 15"/>
          <p:cNvSpPr/>
          <p:nvPr/>
        </p:nvSpPr>
        <p:spPr>
          <a:xfrm>
            <a:off x="12573000" y="3108960"/>
            <a:ext cx="4892040" cy="1481328"/>
          </a:xfrm>
          <a:prstGeom prst="roundRect">
            <a:avLst>
              <a:gd name="adj" fmla="val 8000"/>
            </a:avLst>
          </a:prstGeom>
          <a:solidFill>
            <a:srgbClr val="FFFFFF">
              <a:alpha val="94000"/>
            </a:srgbClr>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2783312" y="3218688"/>
            <a:ext cx="4480560" cy="1280160"/>
          </a:xfrm>
          <a:prstGeom prst="rect">
            <a:avLst/>
          </a:prstGeom>
          <a:noFill/>
        </p:spPr>
        <p:txBody>
          <a:bodyPr wrap="square" lIns="0" tIns="0" rIns="0" bIns="0" anchor="ctr">
            <a:spAutoFit/>
          </a:bodyPr>
          <a:lstStyle/>
          <a:p>
            <a:pPr algn="l">
              <a:spcAft>
                <a:spcPts val="300"/>
              </a:spcAft>
            </a:pPr>
            <a:r>
              <a:rPr sz="2100" b="1" i="0" spc="120">
                <a:solidFill>
                  <a:srgbClr val="7F5E87"/>
                </a:solidFill>
                <a:latin typeface="Heading Now 31-38 Bold"/>
              </a:rPr>
              <a:t>A REASON, NOT JUST A VERDICT</a:t>
            </a:r>
          </a:p>
          <a:p>
            <a:pPr algn="l">
              <a:spcAft>
                <a:spcPts val="300"/>
              </a:spcAft>
            </a:pPr>
            <a:r>
              <a:rPr sz="1900" b="0" i="0">
                <a:solidFill>
                  <a:srgbClr val="262B40"/>
                </a:solidFill>
                <a:latin typeface="Calibri"/>
              </a:rPr>
              <a:t>Five named result codes, each with computed and expected hashes.</a:t>
            </a:r>
          </a:p>
        </p:txBody>
      </p:sp>
      <p:sp>
        <p:nvSpPr>
          <p:cNvPr id="18" name="Rounded Rectangle 17"/>
          <p:cNvSpPr/>
          <p:nvPr/>
        </p:nvSpPr>
        <p:spPr>
          <a:xfrm>
            <a:off x="12573000" y="4736592"/>
            <a:ext cx="4892040" cy="1481328"/>
          </a:xfrm>
          <a:prstGeom prst="roundRect">
            <a:avLst>
              <a:gd name="adj" fmla="val 8000"/>
            </a:avLst>
          </a:prstGeom>
          <a:solidFill>
            <a:srgbClr val="FFFFFF">
              <a:alpha val="94000"/>
            </a:srgbClr>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783312" y="4846320"/>
            <a:ext cx="4480560" cy="1280160"/>
          </a:xfrm>
          <a:prstGeom prst="rect">
            <a:avLst/>
          </a:prstGeom>
          <a:noFill/>
        </p:spPr>
        <p:txBody>
          <a:bodyPr wrap="square" lIns="0" tIns="0" rIns="0" bIns="0" anchor="ctr">
            <a:spAutoFit/>
          </a:bodyPr>
          <a:lstStyle/>
          <a:p>
            <a:pPr algn="l">
              <a:spcAft>
                <a:spcPts val="300"/>
              </a:spcAft>
            </a:pPr>
            <a:r>
              <a:rPr sz="2100" b="1" i="0" spc="120">
                <a:solidFill>
                  <a:srgbClr val="7F5E87"/>
                </a:solidFill>
                <a:latin typeface="Heading Now 31-38 Bold"/>
              </a:rPr>
              <a:t>TWO VERIFIERS THAT MUST AGREE</a:t>
            </a:r>
          </a:p>
          <a:p>
            <a:pPr algn="l">
              <a:spcAft>
                <a:spcPts val="300"/>
              </a:spcAft>
            </a:pPr>
            <a:r>
              <a:rPr sz="1900" b="0" i="0">
                <a:solidFill>
                  <a:srgbClr val="262B40"/>
                </a:solidFill>
                <a:latin typeface="Calibri"/>
              </a:rPr>
              <a:t>A Python CLI and a static WebCrypto page, tested for parity.</a:t>
            </a:r>
          </a:p>
        </p:txBody>
      </p:sp>
      <p:sp>
        <p:nvSpPr>
          <p:cNvPr id="20" name="Rounded Rectangle 19"/>
          <p:cNvSpPr/>
          <p:nvPr/>
        </p:nvSpPr>
        <p:spPr>
          <a:xfrm>
            <a:off x="12573000" y="6364224"/>
            <a:ext cx="4892040" cy="1481328"/>
          </a:xfrm>
          <a:prstGeom prst="roundRect">
            <a:avLst>
              <a:gd name="adj" fmla="val 8000"/>
            </a:avLst>
          </a:prstGeom>
          <a:solidFill>
            <a:srgbClr val="FFFFFF">
              <a:alpha val="94000"/>
            </a:srgbClr>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2783312" y="6473952"/>
            <a:ext cx="4480560" cy="1280160"/>
          </a:xfrm>
          <a:prstGeom prst="rect">
            <a:avLst/>
          </a:prstGeom>
          <a:noFill/>
        </p:spPr>
        <p:txBody>
          <a:bodyPr wrap="square" lIns="0" tIns="0" rIns="0" bIns="0" anchor="ctr">
            <a:spAutoFit/>
          </a:bodyPr>
          <a:lstStyle/>
          <a:p>
            <a:pPr algn="l">
              <a:spcAft>
                <a:spcPts val="300"/>
              </a:spcAft>
            </a:pPr>
            <a:r>
              <a:rPr sz="2100" b="1" i="0" spc="120">
                <a:solidFill>
                  <a:srgbClr val="7F5E87"/>
                </a:solidFill>
                <a:latin typeface="Heading Now 31-38 Bold"/>
              </a:rPr>
              <a:t>AI KEPT OUT OF THE VERDICT</a:t>
            </a:r>
          </a:p>
          <a:p>
            <a:pPr algn="l">
              <a:spcAft>
                <a:spcPts val="300"/>
              </a:spcAft>
            </a:pPr>
            <a:r>
              <a:rPr sz="1900" b="0" i="0">
                <a:solidFill>
                  <a:srgbClr val="262B40"/>
                </a:solidFill>
                <a:latin typeface="Calibri"/>
              </a:rPr>
              <a:t>Suggestions need human confirmation. The verifier contains no AI code.</a:t>
            </a:r>
          </a:p>
        </p:txBody>
      </p:sp>
      <p:sp>
        <p:nvSpPr>
          <p:cNvPr id="22" name="Rounded Rectangle 21"/>
          <p:cNvSpPr/>
          <p:nvPr/>
        </p:nvSpPr>
        <p:spPr>
          <a:xfrm>
            <a:off x="12573000" y="7991856"/>
            <a:ext cx="4892040" cy="1481328"/>
          </a:xfrm>
          <a:prstGeom prst="roundRect">
            <a:avLst>
              <a:gd name="adj" fmla="val 8000"/>
            </a:avLst>
          </a:prstGeom>
          <a:solidFill>
            <a:srgbClr val="FFFFFF">
              <a:alpha val="94000"/>
            </a:srgbClr>
          </a:solidFill>
          <a:ln w="15875">
            <a:solidFill>
              <a:srgbClr val="DDD3C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2783312" y="8101583"/>
            <a:ext cx="4480560" cy="1280160"/>
          </a:xfrm>
          <a:prstGeom prst="rect">
            <a:avLst/>
          </a:prstGeom>
          <a:noFill/>
        </p:spPr>
        <p:txBody>
          <a:bodyPr wrap="square" lIns="0" tIns="0" rIns="0" bIns="0" anchor="ctr">
            <a:spAutoFit/>
          </a:bodyPr>
          <a:lstStyle/>
          <a:p>
            <a:pPr algn="l">
              <a:spcAft>
                <a:spcPts val="300"/>
              </a:spcAft>
            </a:pPr>
            <a:r>
              <a:rPr sz="2100" b="1" i="0" spc="120">
                <a:solidFill>
                  <a:srgbClr val="7F5E87"/>
                </a:solidFill>
                <a:latin typeface="Heading Now 31-38 Bold"/>
              </a:rPr>
              <a:t>HONEST CLAIMS</a:t>
            </a:r>
          </a:p>
          <a:p>
            <a:pPr algn="l">
              <a:spcAft>
                <a:spcPts val="300"/>
              </a:spcAft>
            </a:pPr>
            <a:r>
              <a:rPr sz="1900" b="0" i="0">
                <a:solidFill>
                  <a:srgbClr val="262B40"/>
                </a:solidFill>
                <a:latin typeface="Calibri"/>
              </a:rPr>
              <a:t>Tamper-evident, not tamper-proof. A pass is not proof of authorship.</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0" y="4711687"/>
            <a:ext cx="6540804" cy="5148966"/>
          </a:xfrm>
          <a:custGeom>
            <a:avLst/>
            <a:gdLst/>
            <a:ahLst/>
            <a:cxnLst/>
            <a:rect l="l" t="t" r="r" b="b"/>
            <a:pathLst>
              <a:path w="6540804" h="5148966">
                <a:moveTo>
                  <a:pt x="0" y="0"/>
                </a:moveTo>
                <a:lnTo>
                  <a:pt x="6540804" y="0"/>
                </a:lnTo>
                <a:lnTo>
                  <a:pt x="6540804" y="5148965"/>
                </a:lnTo>
                <a:lnTo>
                  <a:pt x="0" y="5148965"/>
                </a:lnTo>
                <a:lnTo>
                  <a:pt x="0" y="0"/>
                </a:lnTo>
                <a:close/>
              </a:path>
            </a:pathLst>
          </a:custGeom>
          <a:blipFill>
            <a:blip r:embed="rId3"/>
            <a:stretch>
              <a:fillRect/>
            </a:stretch>
          </a:blipFill>
        </p:spPr>
      </p:sp>
      <p:sp>
        <p:nvSpPr>
          <p:cNvPr id="4" name="Freeform 4"/>
          <p:cNvSpPr/>
          <p:nvPr/>
        </p:nvSpPr>
        <p:spPr>
          <a:xfrm>
            <a:off x="7175196" y="6854356"/>
            <a:ext cx="4364182" cy="3006296"/>
          </a:xfrm>
          <a:custGeom>
            <a:avLst/>
            <a:gdLst/>
            <a:ahLst/>
            <a:cxnLst/>
            <a:rect l="l" t="t" r="r" b="b"/>
            <a:pathLst>
              <a:path w="4364182" h="3006296">
                <a:moveTo>
                  <a:pt x="0" y="0"/>
                </a:moveTo>
                <a:lnTo>
                  <a:pt x="4364182" y="0"/>
                </a:lnTo>
                <a:lnTo>
                  <a:pt x="4364182" y="3006296"/>
                </a:lnTo>
                <a:lnTo>
                  <a:pt x="0" y="3006296"/>
                </a:lnTo>
                <a:lnTo>
                  <a:pt x="0" y="0"/>
                </a:lnTo>
                <a:close/>
              </a:path>
            </a:pathLst>
          </a:custGeom>
          <a:blipFill>
            <a:blip r:embed="rId4"/>
            <a:stretch>
              <a:fillRect/>
            </a:stretch>
          </a:blipFill>
        </p:spPr>
      </p:sp>
      <p:sp>
        <p:nvSpPr>
          <p:cNvPr id="5" name="Freeform 5"/>
          <p:cNvSpPr/>
          <p:nvPr/>
        </p:nvSpPr>
        <p:spPr>
          <a:xfrm>
            <a:off x="9789330" y="7499343"/>
            <a:ext cx="8498670" cy="2361309"/>
          </a:xfrm>
          <a:custGeom>
            <a:avLst/>
            <a:gdLst/>
            <a:ahLst/>
            <a:cxnLst/>
            <a:rect l="l" t="t" r="r" b="b"/>
            <a:pathLst>
              <a:path w="8498670" h="2361309">
                <a:moveTo>
                  <a:pt x="0" y="0"/>
                </a:moveTo>
                <a:lnTo>
                  <a:pt x="8498670" y="0"/>
                </a:lnTo>
                <a:lnTo>
                  <a:pt x="8498670" y="2361309"/>
                </a:lnTo>
                <a:lnTo>
                  <a:pt x="0" y="2361309"/>
                </a:lnTo>
                <a:lnTo>
                  <a:pt x="0" y="0"/>
                </a:lnTo>
                <a:close/>
              </a:path>
            </a:pathLst>
          </a:custGeom>
          <a:blipFill>
            <a:blip r:embed="rId5"/>
            <a:stretch>
              <a:fillRect/>
            </a:stretch>
          </a:blipFill>
        </p:spPr>
      </p:sp>
      <p:sp>
        <p:nvSpPr>
          <p:cNvPr id="6" name="Freeform 6"/>
          <p:cNvSpPr/>
          <p:nvPr/>
        </p:nvSpPr>
        <p:spPr>
          <a:xfrm>
            <a:off x="0" y="7280704"/>
            <a:ext cx="16986402" cy="2798589"/>
          </a:xfrm>
          <a:custGeom>
            <a:avLst/>
            <a:gdLst/>
            <a:ahLst/>
            <a:cxnLst/>
            <a:rect l="l" t="t" r="r" b="b"/>
            <a:pathLst>
              <a:path w="16986402" h="2798589">
                <a:moveTo>
                  <a:pt x="0" y="0"/>
                </a:moveTo>
                <a:lnTo>
                  <a:pt x="16986402" y="0"/>
                </a:lnTo>
                <a:lnTo>
                  <a:pt x="16986402" y="2798588"/>
                </a:lnTo>
                <a:lnTo>
                  <a:pt x="0" y="2798588"/>
                </a:lnTo>
                <a:lnTo>
                  <a:pt x="0" y="0"/>
                </a:lnTo>
                <a:close/>
              </a:path>
            </a:pathLst>
          </a:custGeom>
          <a:blipFill>
            <a:blip r:embed="rId6"/>
            <a:stretch>
              <a:fillRect/>
            </a:stretch>
          </a:blipFill>
        </p:spPr>
      </p:sp>
      <p:sp>
        <p:nvSpPr>
          <p:cNvPr id="7" name="Freeform 7"/>
          <p:cNvSpPr/>
          <p:nvPr/>
        </p:nvSpPr>
        <p:spPr>
          <a:xfrm>
            <a:off x="1301598" y="6635716"/>
            <a:ext cx="1312536" cy="3443576"/>
          </a:xfrm>
          <a:custGeom>
            <a:avLst/>
            <a:gdLst/>
            <a:ahLst/>
            <a:cxnLst/>
            <a:rect l="l" t="t" r="r" b="b"/>
            <a:pathLst>
              <a:path w="1312536" h="3443576">
                <a:moveTo>
                  <a:pt x="0" y="0"/>
                </a:moveTo>
                <a:lnTo>
                  <a:pt x="1312536" y="0"/>
                </a:lnTo>
                <a:lnTo>
                  <a:pt x="1312536" y="3443576"/>
                </a:lnTo>
                <a:lnTo>
                  <a:pt x="0" y="3443576"/>
                </a:lnTo>
                <a:lnTo>
                  <a:pt x="0" y="0"/>
                </a:lnTo>
                <a:close/>
              </a:path>
            </a:pathLst>
          </a:custGeom>
          <a:blipFill>
            <a:blip r:embed="rId7"/>
            <a:stretch>
              <a:fillRect/>
            </a:stretch>
          </a:blipFill>
        </p:spPr>
      </p:sp>
      <p:sp>
        <p:nvSpPr>
          <p:cNvPr id="8" name="Freeform 8"/>
          <p:cNvSpPr/>
          <p:nvPr/>
        </p:nvSpPr>
        <p:spPr>
          <a:xfrm>
            <a:off x="2176622" y="5990729"/>
            <a:ext cx="1531292" cy="4088563"/>
          </a:xfrm>
          <a:custGeom>
            <a:avLst/>
            <a:gdLst/>
            <a:ahLst/>
            <a:cxnLst/>
            <a:rect l="l" t="t" r="r" b="b"/>
            <a:pathLst>
              <a:path w="1531292" h="4088563">
                <a:moveTo>
                  <a:pt x="0" y="0"/>
                </a:moveTo>
                <a:lnTo>
                  <a:pt x="1531292" y="0"/>
                </a:lnTo>
                <a:lnTo>
                  <a:pt x="1531292" y="4088563"/>
                </a:lnTo>
                <a:lnTo>
                  <a:pt x="0" y="4088563"/>
                </a:lnTo>
                <a:lnTo>
                  <a:pt x="0" y="0"/>
                </a:lnTo>
                <a:close/>
              </a:path>
            </a:pathLst>
          </a:custGeom>
          <a:blipFill>
            <a:blip r:embed="rId8"/>
            <a:stretch>
              <a:fillRect/>
            </a:stretch>
          </a:blipFill>
        </p:spPr>
      </p:sp>
      <p:sp>
        <p:nvSpPr>
          <p:cNvPr id="9" name="Freeform 9"/>
          <p:cNvSpPr/>
          <p:nvPr/>
        </p:nvSpPr>
        <p:spPr>
          <a:xfrm>
            <a:off x="12840976" y="6635716"/>
            <a:ext cx="1312536" cy="3443576"/>
          </a:xfrm>
          <a:custGeom>
            <a:avLst/>
            <a:gdLst/>
            <a:ahLst/>
            <a:cxnLst/>
            <a:rect l="l" t="t" r="r" b="b"/>
            <a:pathLst>
              <a:path w="1312536" h="3443576">
                <a:moveTo>
                  <a:pt x="0" y="0"/>
                </a:moveTo>
                <a:lnTo>
                  <a:pt x="1312536" y="0"/>
                </a:lnTo>
                <a:lnTo>
                  <a:pt x="1312536" y="3443576"/>
                </a:lnTo>
                <a:lnTo>
                  <a:pt x="0" y="3443576"/>
                </a:lnTo>
                <a:lnTo>
                  <a:pt x="0" y="0"/>
                </a:lnTo>
                <a:close/>
              </a:path>
            </a:pathLst>
          </a:custGeom>
          <a:blipFill>
            <a:blip r:embed="rId9"/>
            <a:stretch>
              <a:fillRect/>
            </a:stretch>
          </a:blipFill>
        </p:spPr>
      </p:sp>
      <p:sp>
        <p:nvSpPr>
          <p:cNvPr id="10" name="Freeform 10"/>
          <p:cNvSpPr/>
          <p:nvPr/>
        </p:nvSpPr>
        <p:spPr>
          <a:xfrm>
            <a:off x="13923818" y="7280704"/>
            <a:ext cx="1104718" cy="2579949"/>
          </a:xfrm>
          <a:custGeom>
            <a:avLst/>
            <a:gdLst/>
            <a:ahLst/>
            <a:cxnLst/>
            <a:rect l="l" t="t" r="r" b="b"/>
            <a:pathLst>
              <a:path w="1104718" h="2579949">
                <a:moveTo>
                  <a:pt x="0" y="0"/>
                </a:moveTo>
                <a:lnTo>
                  <a:pt x="1104718" y="0"/>
                </a:lnTo>
                <a:lnTo>
                  <a:pt x="1104718" y="2579948"/>
                </a:lnTo>
                <a:lnTo>
                  <a:pt x="0" y="2579948"/>
                </a:lnTo>
                <a:lnTo>
                  <a:pt x="0" y="0"/>
                </a:lnTo>
                <a:close/>
              </a:path>
            </a:pathLst>
          </a:custGeom>
          <a:blipFill>
            <a:blip r:embed="rId10"/>
            <a:stretch>
              <a:fillRect/>
            </a:stretch>
          </a:blipFill>
        </p:spPr>
      </p:sp>
      <p:sp>
        <p:nvSpPr>
          <p:cNvPr id="11" name="Freeform 11"/>
          <p:cNvSpPr/>
          <p:nvPr/>
        </p:nvSpPr>
        <p:spPr>
          <a:xfrm>
            <a:off x="0" y="9423373"/>
            <a:ext cx="18288000" cy="863627"/>
          </a:xfrm>
          <a:custGeom>
            <a:avLst/>
            <a:gdLst/>
            <a:ahLst/>
            <a:cxnLst/>
            <a:rect l="l" t="t" r="r" b="b"/>
            <a:pathLst>
              <a:path w="18288000" h="863627">
                <a:moveTo>
                  <a:pt x="0" y="0"/>
                </a:moveTo>
                <a:lnTo>
                  <a:pt x="18288000" y="0"/>
                </a:lnTo>
                <a:lnTo>
                  <a:pt x="18288000" y="863627"/>
                </a:lnTo>
                <a:lnTo>
                  <a:pt x="0" y="863627"/>
                </a:lnTo>
                <a:lnTo>
                  <a:pt x="0" y="0"/>
                </a:lnTo>
                <a:close/>
              </a:path>
            </a:pathLst>
          </a:custGeom>
          <a:blipFill>
            <a:blip r:embed="rId11"/>
            <a:stretch>
              <a:fillRect/>
            </a:stretch>
          </a:blipFill>
        </p:spPr>
      </p:sp>
      <p:sp>
        <p:nvSpPr>
          <p:cNvPr id="12" name="TextBox 12"/>
          <p:cNvSpPr txBox="1"/>
          <p:nvPr/>
        </p:nvSpPr>
        <p:spPr>
          <a:xfrm>
            <a:off x="5663020" y="3238633"/>
            <a:ext cx="6961960" cy="2220974"/>
          </a:xfrm>
          <a:prstGeom prst="rect">
            <a:avLst/>
          </a:prstGeom>
        </p:spPr>
        <p:txBody>
          <a:bodyPr lIns="0" tIns="0" rIns="0" bIns="0" rtlCol="0" anchor="t">
            <a:spAutoFit/>
          </a:bodyPr>
          <a:lstStyle/>
          <a:p>
            <a:pPr algn="ctr">
              <a:lnSpc>
                <a:spcPts val="14129"/>
              </a:lnSpc>
            </a:pPr>
            <a:r>
              <a:rPr lang="en-US" sz="14129" b="1" spc="282">
                <a:solidFill>
                  <a:srgbClr val="141D40"/>
                </a:solidFill>
                <a:latin typeface="Heading Now 31-38 Bold"/>
                <a:ea typeface="Heading Now 31-38 Bold"/>
                <a:cs typeface="Heading Now 31-38 Bold"/>
                <a:sym typeface="Heading Now 31-38 Bold"/>
              </a:rPr>
              <a:t>THANK YOU!</a:t>
            </a:r>
          </a:p>
        </p:txBody>
      </p:sp>
      <p:sp>
        <p:nvSpPr>
          <p:cNvPr id="13" name="Freeform 13"/>
          <p:cNvSpPr/>
          <p:nvPr/>
        </p:nvSpPr>
        <p:spPr>
          <a:xfrm>
            <a:off x="3259464" y="5459607"/>
            <a:ext cx="11769072" cy="218640"/>
          </a:xfrm>
          <a:custGeom>
            <a:avLst/>
            <a:gdLst/>
            <a:ahLst/>
            <a:cxnLst/>
            <a:rect l="l" t="t" r="r" b="b"/>
            <a:pathLst>
              <a:path w="11769072" h="218640">
                <a:moveTo>
                  <a:pt x="0" y="0"/>
                </a:moveTo>
                <a:lnTo>
                  <a:pt x="11769072" y="0"/>
                </a:lnTo>
                <a:lnTo>
                  <a:pt x="11769072" y="218639"/>
                </a:lnTo>
                <a:lnTo>
                  <a:pt x="0" y="218639"/>
                </a:lnTo>
                <a:lnTo>
                  <a:pt x="0" y="0"/>
                </a:lnTo>
                <a:close/>
              </a:path>
            </a:pathLst>
          </a:custGeom>
          <a:blipFill>
            <a:blip r:embed="rId12"/>
            <a:stretch>
              <a:fillRect/>
            </a:stretch>
          </a:blipFill>
        </p:spPr>
      </p:sp>
      <p:sp>
        <p:nvSpPr>
          <p:cNvPr id="14" name="TextBox 14"/>
          <p:cNvSpPr txBox="1"/>
          <p:nvPr/>
        </p:nvSpPr>
        <p:spPr>
          <a:xfrm>
            <a:off x="7517132" y="5877000"/>
            <a:ext cx="3296956" cy="874514"/>
          </a:xfrm>
          <a:prstGeom prst="rect">
            <a:avLst/>
          </a:prstGeom>
        </p:spPr>
        <p:txBody>
          <a:bodyPr lIns="0" tIns="0" rIns="0" bIns="0" rtlCol="0" anchor="t">
            <a:spAutoFit/>
          </a:bodyPr>
          <a:lstStyle/>
          <a:p>
            <a:pPr algn="ctr">
              <a:lnSpc>
                <a:spcPts val="5554"/>
              </a:lnSpc>
            </a:pPr>
            <a:r>
              <a:rPr lang="en-US" sz="5554" b="1" spc="276">
                <a:solidFill>
                  <a:srgbClr val="323F9D"/>
                </a:solidFill>
                <a:latin typeface="Heading Now 31-38 Bold"/>
                <a:ea typeface="Heading Now 31-38 Bold"/>
                <a:cs typeface="Heading Now 31-38 Bold"/>
                <a:sym typeface="Heading Now 31-38 Bold"/>
              </a:rPr>
              <a:t>VORTEXA 3.0</a:t>
            </a:r>
          </a:p>
        </p:txBody>
      </p:sp>
      <p:sp>
        <p:nvSpPr>
          <p:cNvPr id="15" name="TextBox 15"/>
          <p:cNvSpPr txBox="1"/>
          <p:nvPr/>
        </p:nvSpPr>
        <p:spPr>
          <a:xfrm>
            <a:off x="8581401" y="7052188"/>
            <a:ext cx="1168417" cy="865735"/>
          </a:xfrm>
          <a:prstGeom prst="rect">
            <a:avLst/>
          </a:prstGeom>
        </p:spPr>
        <p:txBody>
          <a:bodyPr lIns="0" tIns="0" rIns="0" bIns="0" rtlCol="0" anchor="t">
            <a:spAutoFit/>
          </a:bodyPr>
          <a:lstStyle/>
          <a:p>
            <a:pPr algn="ctr">
              <a:lnSpc>
                <a:spcPts val="5554"/>
              </a:lnSpc>
            </a:pPr>
            <a:r>
              <a:rPr lang="en-US" sz="5554" b="1" spc="276">
                <a:solidFill>
                  <a:srgbClr val="ED8076"/>
                </a:solidFill>
                <a:latin typeface="Heading Now 31-38 Bold"/>
                <a:ea typeface="Heading Now 31-38 Bold"/>
                <a:cs typeface="Heading Now 31-38 Bold"/>
                <a:sym typeface="Heading Now 31-38 Bold"/>
              </a:rPr>
              <a:t>AIRS</a:t>
            </a:r>
          </a:p>
        </p:txBody>
      </p:sp>
      <p:sp>
        <p:nvSpPr>
          <p:cNvPr id="16" name="TextBox 16"/>
          <p:cNvSpPr txBox="1"/>
          <p:nvPr/>
        </p:nvSpPr>
        <p:spPr>
          <a:xfrm rot="-769921">
            <a:off x="15555796" y="4644632"/>
            <a:ext cx="1911526" cy="1704008"/>
          </a:xfrm>
          <a:prstGeom prst="rect">
            <a:avLst/>
          </a:prstGeom>
        </p:spPr>
        <p:txBody>
          <a:bodyPr lIns="0" tIns="0" rIns="0" bIns="0" rtlCol="0" anchor="t">
            <a:spAutoFit/>
          </a:bodyPr>
          <a:lstStyle/>
          <a:p>
            <a:pPr algn="ctr">
              <a:lnSpc>
                <a:spcPts val="6255"/>
              </a:lnSpc>
            </a:pPr>
            <a:r>
              <a:rPr lang="en-US" sz="5211">
                <a:solidFill>
                  <a:srgbClr val="ED8076"/>
                </a:solidFill>
                <a:latin typeface="Heading Now 31-38"/>
                <a:ea typeface="Heading Now 31-38"/>
                <a:cs typeface="Heading Now 31-38"/>
                <a:sym typeface="Heading Now 31-38"/>
              </a:rPr>
              <a:t>Game’s</a:t>
            </a:r>
          </a:p>
          <a:p>
            <a:pPr algn="ctr">
              <a:lnSpc>
                <a:spcPts val="6255"/>
              </a:lnSpc>
            </a:pPr>
            <a:r>
              <a:rPr lang="en-US" sz="5211">
                <a:solidFill>
                  <a:srgbClr val="ED8076"/>
                </a:solidFill>
                <a:latin typeface="Heading Now 31-38"/>
                <a:ea typeface="Heading Now 31-38"/>
                <a:cs typeface="Heading Now 31-38"/>
                <a:sym typeface="Heading Now 31-38"/>
              </a:rPr>
              <a:t>Still On</a:t>
            </a:r>
          </a:p>
        </p:txBody>
      </p:sp>
      <p:sp>
        <p:nvSpPr>
          <p:cNvPr id="17" name="Freeform 17"/>
          <p:cNvSpPr/>
          <p:nvPr/>
        </p:nvSpPr>
        <p:spPr>
          <a:xfrm>
            <a:off x="15892622" y="5998497"/>
            <a:ext cx="2187560" cy="1082267"/>
          </a:xfrm>
          <a:custGeom>
            <a:avLst/>
            <a:gdLst/>
            <a:ahLst/>
            <a:cxnLst/>
            <a:rect l="l" t="t" r="r" b="b"/>
            <a:pathLst>
              <a:path w="2187560" h="1082267">
                <a:moveTo>
                  <a:pt x="0" y="0"/>
                </a:moveTo>
                <a:lnTo>
                  <a:pt x="2187560" y="0"/>
                </a:lnTo>
                <a:lnTo>
                  <a:pt x="2187560" y="1082266"/>
                </a:lnTo>
                <a:lnTo>
                  <a:pt x="0" y="1082266"/>
                </a:lnTo>
                <a:lnTo>
                  <a:pt x="0" y="0"/>
                </a:lnTo>
                <a:close/>
              </a:path>
            </a:pathLst>
          </a:custGeom>
          <a:blipFill>
            <a:blip r:embed="rId13"/>
            <a:stretch>
              <a:fillRect/>
            </a:stretch>
          </a:blipFill>
        </p:spPr>
      </p:sp>
      <p:sp>
        <p:nvSpPr>
          <p:cNvPr id="18" name="Freeform 18"/>
          <p:cNvSpPr/>
          <p:nvPr/>
        </p:nvSpPr>
        <p:spPr>
          <a:xfrm>
            <a:off x="16178937" y="216170"/>
            <a:ext cx="2160727" cy="2160727"/>
          </a:xfrm>
          <a:custGeom>
            <a:avLst/>
            <a:gdLst/>
            <a:ahLst/>
            <a:cxnLst/>
            <a:rect l="l" t="t" r="r" b="b"/>
            <a:pathLst>
              <a:path w="2160727" h="2160727">
                <a:moveTo>
                  <a:pt x="0" y="0"/>
                </a:moveTo>
                <a:lnTo>
                  <a:pt x="2160726" y="0"/>
                </a:lnTo>
                <a:lnTo>
                  <a:pt x="2160726" y="2160727"/>
                </a:lnTo>
                <a:lnTo>
                  <a:pt x="0" y="2160727"/>
                </a:lnTo>
                <a:lnTo>
                  <a:pt x="0" y="0"/>
                </a:lnTo>
                <a:close/>
              </a:path>
            </a:pathLst>
          </a:custGeom>
          <a:blipFill>
            <a:blip r:embed="rId14"/>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1575</Words>
  <Application>Microsoft Office PowerPoint</Application>
  <PresentationFormat>Custom</PresentationFormat>
  <Paragraphs>225</Paragraphs>
  <Slides>8</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Consolas</vt:lpstr>
      <vt:lpstr>Heading Now 31-38 Bold</vt:lpstr>
      <vt:lpstr>Heading Now 31-38</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VORTEXA 3.0 Hackathon</dc:title>
  <cp:lastModifiedBy>aero.salu@outlook.com</cp:lastModifiedBy>
  <cp:revision>1</cp:revision>
  <dcterms:created xsi:type="dcterms:W3CDTF">2006-08-16T00:00:00Z</dcterms:created>
  <dcterms:modified xsi:type="dcterms:W3CDTF">2026-10-11T15:24:39Z</dcterms:modified>
  <dc:identifier>DAHXr7I3BNw</dc:identifier>
</cp:coreProperties>
</file>